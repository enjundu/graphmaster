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9" r:id="rId3"/>
  </p:sldIdLst>
  <p:sldSz cx="12192000" cy="6858000"/>
  <p:notesSz cx="6858000" cy="9144000"/>
  <p:custDataLst>
    <p:tags r:id="rId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A2A3A"/>
    <a:srgbClr val="FAF9EB"/>
    <a:srgbClr val="FAF6E5"/>
    <a:srgbClr val="FFFCEF"/>
    <a:srgbClr val="95B0F5"/>
    <a:srgbClr val="D3E9F4"/>
    <a:srgbClr val="F9ACAE"/>
    <a:srgbClr val="FEEBF1"/>
    <a:srgbClr val="FCCF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9" Type="http://schemas.openxmlformats.org/officeDocument/2006/relationships/notesSlide" Target="../notesSlides/notesSlide1.xml"/><Relationship Id="rId28" Type="http://schemas.openxmlformats.org/officeDocument/2006/relationships/slideLayout" Target="../slideLayouts/slideLayout1.xml"/><Relationship Id="rId27" Type="http://schemas.openxmlformats.org/officeDocument/2006/relationships/image" Target="../media/image27.png"/><Relationship Id="rId26" Type="http://schemas.openxmlformats.org/officeDocument/2006/relationships/image" Target="../media/image26.png"/><Relationship Id="rId25" Type="http://schemas.openxmlformats.org/officeDocument/2006/relationships/image" Target="../media/image25.png"/><Relationship Id="rId24" Type="http://schemas.openxmlformats.org/officeDocument/2006/relationships/image" Target="../media/image24.png"/><Relationship Id="rId23" Type="http://schemas.openxmlformats.org/officeDocument/2006/relationships/image" Target="../media/image23.png"/><Relationship Id="rId22" Type="http://schemas.openxmlformats.org/officeDocument/2006/relationships/image" Target="../media/image22.png"/><Relationship Id="rId21" Type="http://schemas.openxmlformats.org/officeDocument/2006/relationships/image" Target="../media/image21.png"/><Relationship Id="rId20" Type="http://schemas.openxmlformats.org/officeDocument/2006/relationships/image" Target="../media/image20.png"/><Relationship Id="rId2" Type="http://schemas.openxmlformats.org/officeDocument/2006/relationships/image" Target="../media/image2.png"/><Relationship Id="rId19" Type="http://schemas.openxmlformats.org/officeDocument/2006/relationships/image" Target="../media/image19.png"/><Relationship Id="rId18" Type="http://schemas.openxmlformats.org/officeDocument/2006/relationships/image" Target="../media/image18.png"/><Relationship Id="rId17" Type="http://schemas.openxmlformats.org/officeDocument/2006/relationships/image" Target="../media/image17.png"/><Relationship Id="rId16" Type="http://schemas.openxmlformats.org/officeDocument/2006/relationships/image" Target="../media/image16.png"/><Relationship Id="rId15" Type="http://schemas.openxmlformats.org/officeDocument/2006/relationships/image" Target="../media/image15.png"/><Relationship Id="rId14" Type="http://schemas.openxmlformats.org/officeDocument/2006/relationships/image" Target="../media/image14.png"/><Relationship Id="rId13" Type="http://schemas.openxmlformats.org/officeDocument/2006/relationships/image" Target="../media/image13.png"/><Relationship Id="rId12" Type="http://schemas.openxmlformats.org/officeDocument/2006/relationships/image" Target="../media/image12.png"/><Relationship Id="rId11" Type="http://schemas.openxmlformats.org/officeDocument/2006/relationships/image" Target="../media/image11.png"/><Relationship Id="rId10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9" name="矩形 68"/>
          <p:cNvSpPr/>
          <p:nvPr/>
        </p:nvSpPr>
        <p:spPr>
          <a:xfrm>
            <a:off x="7709535" y="1022350"/>
            <a:ext cx="1625600" cy="12827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3" name="圆角矩形 62"/>
          <p:cNvSpPr/>
          <p:nvPr/>
        </p:nvSpPr>
        <p:spPr>
          <a:xfrm>
            <a:off x="5941060" y="203200"/>
            <a:ext cx="2936240" cy="645795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 cmpd="sng">
            <a:solidFill>
              <a:schemeClr val="accent2">
                <a:lumMod val="60000"/>
                <a:lumOff val="40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8" name="圆角矩形 47"/>
          <p:cNvSpPr/>
          <p:nvPr/>
        </p:nvSpPr>
        <p:spPr>
          <a:xfrm>
            <a:off x="324485" y="1402715"/>
            <a:ext cx="1604010" cy="466090"/>
          </a:xfrm>
          <a:prstGeom prst="roundRect">
            <a:avLst/>
          </a:prstGeom>
          <a:solidFill>
            <a:schemeClr val="bg2"/>
          </a:solidFill>
          <a:ln w="15875" cmpd="sng">
            <a:solidFill>
              <a:schemeClr val="accent1">
                <a:lumMod val="40000"/>
                <a:lumOff val="60000"/>
              </a:schemeClr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矩形 33"/>
          <p:cNvSpPr/>
          <p:nvPr/>
        </p:nvSpPr>
        <p:spPr>
          <a:xfrm>
            <a:off x="1905635" y="3632835"/>
            <a:ext cx="3469640" cy="1539875"/>
          </a:xfrm>
          <a:prstGeom prst="rect">
            <a:avLst/>
          </a:prstGeom>
          <a:solidFill>
            <a:schemeClr val="accent1">
              <a:lumMod val="40000"/>
              <a:lumOff val="60000"/>
              <a:alpha val="20000"/>
            </a:schemeClr>
          </a:solidFill>
          <a:ln w="12700" cmpd="sng">
            <a:solidFill>
              <a:schemeClr val="accent1">
                <a:shade val="50000"/>
              </a:schemeClr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Times New Roman" panose="02020603050405020304" charset="0"/>
            </a:endParaRPr>
          </a:p>
        </p:txBody>
      </p:sp>
      <p:sp>
        <p:nvSpPr>
          <p:cNvPr id="98" name="流程图: 决策 97"/>
          <p:cNvSpPr/>
          <p:nvPr/>
        </p:nvSpPr>
        <p:spPr>
          <a:xfrm>
            <a:off x="4045585" y="1627505"/>
            <a:ext cx="1245235" cy="730885"/>
          </a:xfrm>
          <a:prstGeom prst="flowChartDecision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82" name="直接箭头连接符 81"/>
          <p:cNvCxnSpPr/>
          <p:nvPr/>
        </p:nvCxnSpPr>
        <p:spPr>
          <a:xfrm flipV="1">
            <a:off x="4250690" y="4074795"/>
            <a:ext cx="118745" cy="103505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34" name="图片 13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90540" y="4506595"/>
            <a:ext cx="992505" cy="652780"/>
          </a:xfrm>
          <a:prstGeom prst="rect">
            <a:avLst/>
          </a:prstGeom>
        </p:spPr>
      </p:pic>
      <p:sp>
        <p:nvSpPr>
          <p:cNvPr id="186" name="矩形 185"/>
          <p:cNvSpPr/>
          <p:nvPr/>
        </p:nvSpPr>
        <p:spPr>
          <a:xfrm>
            <a:off x="146685" y="148590"/>
            <a:ext cx="3319145" cy="2240915"/>
          </a:xfrm>
          <a:prstGeom prst="rect">
            <a:avLst/>
          </a:prstGeom>
          <a:noFill/>
          <a:ln w="28575" cmpd="sng">
            <a:solidFill>
              <a:srgbClr val="9A2A3A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矩形 39"/>
          <p:cNvSpPr/>
          <p:nvPr/>
        </p:nvSpPr>
        <p:spPr>
          <a:xfrm>
            <a:off x="3815715" y="202565"/>
            <a:ext cx="1772920" cy="70104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" name="文本框 40"/>
          <p:cNvSpPr txBox="1"/>
          <p:nvPr/>
        </p:nvSpPr>
        <p:spPr>
          <a:xfrm>
            <a:off x="3957955" y="577850"/>
            <a:ext cx="17526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b="1">
                <a:latin typeface="Times New Roman" panose="02020603050405020304" charset="0"/>
              </a:rPr>
              <a:t>Evaluation Agent</a:t>
            </a:r>
            <a:endParaRPr lang="en-US" altLang="zh-CN" sz="1400" b="1">
              <a:latin typeface="Times New Roman" panose="02020603050405020304" charset="0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473710" y="250190"/>
            <a:ext cx="1308735" cy="59817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4" name="文本框 53"/>
          <p:cNvSpPr txBox="1"/>
          <p:nvPr/>
        </p:nvSpPr>
        <p:spPr>
          <a:xfrm>
            <a:off x="455295" y="561975"/>
            <a:ext cx="13931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 b="1">
                <a:latin typeface="Times New Roman" panose="02020603050405020304" charset="0"/>
              </a:rPr>
              <a:t>Manager Agent</a:t>
            </a:r>
            <a:endParaRPr lang="en-US" altLang="zh-CN" sz="1400" b="1">
              <a:latin typeface="Times New Roman" panose="02020603050405020304" charset="0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208280" y="4777105"/>
            <a:ext cx="1386840" cy="607060"/>
          </a:xfrm>
          <a:prstGeom prst="rect">
            <a:avLst/>
          </a:prstGeom>
          <a:solidFill>
            <a:srgbClr val="D3E9F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0" name="文本框 59"/>
          <p:cNvSpPr txBox="1"/>
          <p:nvPr/>
        </p:nvSpPr>
        <p:spPr>
          <a:xfrm>
            <a:off x="-1270" y="5144770"/>
            <a:ext cx="1780540" cy="3327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400" b="1">
                <a:latin typeface="Times New Roman" panose="02020603050405020304" charset="0"/>
              </a:rPr>
              <a:t> Perception Agent</a:t>
            </a:r>
            <a:endParaRPr lang="en-US" altLang="zh-CN" sz="1400" b="1">
              <a:latin typeface="Times New Roman" panose="02020603050405020304" charset="0"/>
            </a:endParaRPr>
          </a:p>
        </p:txBody>
      </p:sp>
      <p:sp>
        <p:nvSpPr>
          <p:cNvPr id="65" name="矩形 64"/>
          <p:cNvSpPr/>
          <p:nvPr/>
        </p:nvSpPr>
        <p:spPr>
          <a:xfrm>
            <a:off x="5631815" y="2651125"/>
            <a:ext cx="1681480" cy="7150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6" name="文本框 65"/>
          <p:cNvSpPr txBox="1"/>
          <p:nvPr/>
        </p:nvSpPr>
        <p:spPr>
          <a:xfrm>
            <a:off x="5417185" y="3039110"/>
            <a:ext cx="208661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400" b="1">
                <a:latin typeface="Times New Roman" panose="02020603050405020304" charset="0"/>
              </a:rPr>
              <a:t>Enhancement Agent</a:t>
            </a:r>
            <a:endParaRPr lang="en-US" altLang="zh-CN" sz="1400" b="1">
              <a:latin typeface="Times New Roman" panose="02020603050405020304" charset="0"/>
            </a:endParaRPr>
          </a:p>
        </p:txBody>
      </p:sp>
      <p:sp>
        <p:nvSpPr>
          <p:cNvPr id="113" name="文本框 112"/>
          <p:cNvSpPr txBox="1"/>
          <p:nvPr/>
        </p:nvSpPr>
        <p:spPr>
          <a:xfrm>
            <a:off x="6487160" y="4576445"/>
            <a:ext cx="590550" cy="1917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000" b="1">
                <a:latin typeface="Times New Roman" panose="02020603050405020304" charset="0"/>
              </a:rPr>
              <a:t>Prmpt</a:t>
            </a:r>
            <a:endParaRPr lang="en-US" altLang="zh-CN" sz="1000" b="1">
              <a:latin typeface="Times New Roman" panose="02020603050405020304" charset="0"/>
            </a:endParaRPr>
          </a:p>
        </p:txBody>
      </p:sp>
      <p:pic>
        <p:nvPicPr>
          <p:cNvPr id="115" name="图片 1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7710" y="4585970"/>
            <a:ext cx="358775" cy="358775"/>
          </a:xfrm>
          <a:prstGeom prst="rect">
            <a:avLst/>
          </a:prstGeom>
        </p:spPr>
      </p:pic>
      <p:sp>
        <p:nvSpPr>
          <p:cNvPr id="116" name="圆角矩形 115"/>
          <p:cNvSpPr/>
          <p:nvPr/>
        </p:nvSpPr>
        <p:spPr>
          <a:xfrm>
            <a:off x="7083425" y="4573905"/>
            <a:ext cx="356400" cy="355600"/>
          </a:xfrm>
          <a:prstGeom prst="roundRect">
            <a:avLst/>
          </a:prstGeom>
          <a:noFill/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7" name="文本框 116"/>
          <p:cNvSpPr txBox="1"/>
          <p:nvPr/>
        </p:nvSpPr>
        <p:spPr>
          <a:xfrm>
            <a:off x="7047865" y="4940935"/>
            <a:ext cx="508000" cy="2032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1000" b="1">
                <a:latin typeface="Times New Roman" panose="02020603050405020304" charset="0"/>
              </a:rPr>
              <a:t>LLM</a:t>
            </a:r>
            <a:endParaRPr lang="en-US" altLang="zh-CN" sz="1000" b="1">
              <a:latin typeface="Times New Roman" panose="02020603050405020304" charset="0"/>
            </a:endParaRPr>
          </a:p>
          <a:p>
            <a:endParaRPr lang="en-US" altLang="zh-CN" sz="1000" b="1">
              <a:latin typeface="Times New Roman" panose="02020603050405020304" charset="0"/>
            </a:endParaRPr>
          </a:p>
        </p:txBody>
      </p:sp>
      <p:sp>
        <p:nvSpPr>
          <p:cNvPr id="119" name="文本框 118"/>
          <p:cNvSpPr txBox="1"/>
          <p:nvPr/>
        </p:nvSpPr>
        <p:spPr>
          <a:xfrm>
            <a:off x="7461250" y="4553585"/>
            <a:ext cx="87122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 b="1">
                <a:latin typeface="Times New Roman" panose="02020603050405020304" charset="0"/>
              </a:rPr>
              <a:t>New Nodes</a:t>
            </a:r>
            <a:endParaRPr lang="en-US" altLang="zh-CN" sz="1000" b="1">
              <a:latin typeface="Times New Roman" panose="02020603050405020304" charset="0"/>
            </a:endParaRPr>
          </a:p>
        </p:txBody>
      </p:sp>
      <p:cxnSp>
        <p:nvCxnSpPr>
          <p:cNvPr id="222" name="直接箭头连接符 221"/>
          <p:cNvCxnSpPr/>
          <p:nvPr/>
        </p:nvCxnSpPr>
        <p:spPr>
          <a:xfrm flipH="1">
            <a:off x="3671570" y="2964815"/>
            <a:ext cx="901700" cy="12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4" name="图片 13" descr="机器人_o (1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740" y="4732020"/>
            <a:ext cx="586105" cy="586105"/>
          </a:xfrm>
          <a:prstGeom prst="rect">
            <a:avLst/>
          </a:prstGeom>
        </p:spPr>
      </p:pic>
      <p:pic>
        <p:nvPicPr>
          <p:cNvPr id="15" name="图片 14" descr="机器人_o (2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0" y="203200"/>
            <a:ext cx="586800" cy="586800"/>
          </a:xfrm>
          <a:prstGeom prst="rect">
            <a:avLst/>
          </a:prstGeom>
        </p:spPr>
      </p:pic>
      <p:sp>
        <p:nvSpPr>
          <p:cNvPr id="77" name="文本框 76"/>
          <p:cNvSpPr txBox="1"/>
          <p:nvPr/>
        </p:nvSpPr>
        <p:spPr>
          <a:xfrm>
            <a:off x="2019300" y="1685925"/>
            <a:ext cx="1377950" cy="608330"/>
          </a:xfrm>
          <a:prstGeom prst="rect">
            <a:avLst/>
          </a:prstGeom>
          <a:solidFill>
            <a:srgbClr val="FEEBF1">
              <a:alpha val="70000"/>
            </a:srgbClr>
          </a:solidFill>
        </p:spPr>
        <p:txBody>
          <a:bodyPr wrap="square" rtlCol="0">
            <a:noAutofit/>
          </a:bodyPr>
          <a:p>
            <a:endParaRPr lang="zh-CN" altLang="en-US" sz="1400" b="1">
              <a:latin typeface="Times New Roman" panose="02020603050405020304" charset="0"/>
            </a:endParaRPr>
          </a:p>
          <a:p>
            <a:r>
              <a:rPr lang="en-US" altLang="zh-CN" sz="1400" b="1">
                <a:latin typeface="Times New Roman" panose="02020603050405020304" charset="0"/>
              </a:rPr>
              <a:t>                           </a:t>
            </a:r>
            <a:endParaRPr lang="zh-CN" altLang="en-US" sz="1400" b="1">
              <a:latin typeface="Times New Roman" panose="02020603050405020304" charset="0"/>
            </a:endParaRPr>
          </a:p>
        </p:txBody>
      </p:sp>
      <p:sp>
        <p:nvSpPr>
          <p:cNvPr id="80" name="文本框 79"/>
          <p:cNvSpPr txBox="1"/>
          <p:nvPr/>
        </p:nvSpPr>
        <p:spPr>
          <a:xfrm>
            <a:off x="1974215" y="1085215"/>
            <a:ext cx="1315720" cy="460375"/>
          </a:xfrm>
          <a:prstGeom prst="rect">
            <a:avLst/>
          </a:prstGeom>
          <a:solidFill>
            <a:srgbClr val="FEEBF1">
              <a:alpha val="69000"/>
            </a:srgbClr>
          </a:solidFill>
        </p:spPr>
        <p:txBody>
          <a:bodyPr wrap="square" rtlCol="0">
            <a:spAutoFit/>
          </a:bodyPr>
          <a:p>
            <a:pPr algn="ctr"/>
            <a:r>
              <a:rPr lang="en-US" altLang="zh-CN" sz="1200" b="1">
                <a:latin typeface="Times New Roman" panose="02020603050405020304" charset="0"/>
              </a:rPr>
              <a:t>Enhanced data preservation</a:t>
            </a:r>
            <a:endParaRPr lang="en-US" altLang="zh-CN" sz="1200" b="1">
              <a:latin typeface="Times New Roman" panose="02020603050405020304" charset="0"/>
            </a:endParaRPr>
          </a:p>
        </p:txBody>
      </p:sp>
      <p:pic>
        <p:nvPicPr>
          <p:cNvPr id="86" name="图片 85" descr="数据库 (2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1040" y="2642235"/>
            <a:ext cx="623570" cy="623570"/>
          </a:xfrm>
          <a:prstGeom prst="rect">
            <a:avLst/>
          </a:prstGeom>
        </p:spPr>
      </p:pic>
      <p:sp>
        <p:nvSpPr>
          <p:cNvPr id="87" name="文本框 86"/>
          <p:cNvSpPr txBox="1"/>
          <p:nvPr/>
        </p:nvSpPr>
        <p:spPr>
          <a:xfrm>
            <a:off x="3649345" y="2745740"/>
            <a:ext cx="1010920" cy="4768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000" b="1">
                <a:solidFill>
                  <a:schemeClr val="bg2">
                    <a:lumMod val="25000"/>
                  </a:schemeClr>
                </a:solidFill>
                <a:latin typeface="Times New Roman" panose="02020603050405020304" charset="0"/>
              </a:rPr>
              <a:t>G</a:t>
            </a:r>
            <a:r>
              <a:rPr lang="zh-CN" altLang="en-US" sz="1000" b="1">
                <a:solidFill>
                  <a:schemeClr val="bg2">
                    <a:lumMod val="25000"/>
                  </a:schemeClr>
                </a:solidFill>
                <a:latin typeface="Times New Roman" panose="02020603050405020304" charset="0"/>
              </a:rPr>
              <a:t>raph construction</a:t>
            </a:r>
            <a:endParaRPr lang="zh-CN" altLang="en-US" sz="1000" b="1">
              <a:solidFill>
                <a:schemeClr val="bg2">
                  <a:lumMod val="25000"/>
                </a:schemeClr>
              </a:solidFill>
              <a:latin typeface="Times New Roman" panose="02020603050405020304" charset="0"/>
            </a:endParaRPr>
          </a:p>
        </p:txBody>
      </p:sp>
      <p:pic>
        <p:nvPicPr>
          <p:cNvPr id="88" name="图片 87" descr="机器人_o (1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265" y="1385570"/>
            <a:ext cx="501650" cy="501650"/>
          </a:xfrm>
          <a:prstGeom prst="rect">
            <a:avLst/>
          </a:prstGeom>
        </p:spPr>
      </p:pic>
      <p:sp>
        <p:nvSpPr>
          <p:cNvPr id="93" name="文本框 92"/>
          <p:cNvSpPr txBox="1"/>
          <p:nvPr/>
        </p:nvSpPr>
        <p:spPr>
          <a:xfrm>
            <a:off x="1332865" y="2748915"/>
            <a:ext cx="1522095" cy="3797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000" b="1">
                <a:solidFill>
                  <a:schemeClr val="bg2">
                    <a:lumMod val="25000"/>
                  </a:schemeClr>
                </a:solidFill>
                <a:uFillTx/>
                <a:latin typeface="Times New Roman" panose="02020603050405020304" charset="0"/>
              </a:rPr>
              <a:t>Environment </a:t>
            </a:r>
            <a:r>
              <a:rPr lang="zh-CN" altLang="en-US" sz="1000" b="1">
                <a:solidFill>
                  <a:schemeClr val="bg2">
                    <a:lumMod val="25000"/>
                  </a:schemeClr>
                </a:solidFill>
                <a:latin typeface="Times New Roman" panose="02020603050405020304" charset="0"/>
              </a:rPr>
              <a:t>detection</a:t>
            </a:r>
            <a:endParaRPr lang="zh-CN" altLang="en-US" sz="1000" b="1">
              <a:solidFill>
                <a:schemeClr val="bg2">
                  <a:lumMod val="25000"/>
                </a:schemeClr>
              </a:solidFill>
              <a:latin typeface="Times New Roman" panose="02020603050405020304" charset="0"/>
            </a:endParaRPr>
          </a:p>
          <a:p>
            <a:pPr algn="ctr"/>
            <a:r>
              <a:rPr lang="en-US" altLang="zh-CN" sz="1000" b="1">
                <a:solidFill>
                  <a:schemeClr val="bg2">
                    <a:lumMod val="25000"/>
                  </a:schemeClr>
                </a:solidFill>
                <a:latin typeface="Times New Roman" panose="02020603050405020304" charset="0"/>
                <a:sym typeface="+mn-ea"/>
              </a:rPr>
              <a:t>Label</a:t>
            </a:r>
            <a:r>
              <a:rPr lang="zh-CN" altLang="en-US" sz="1000" b="1">
                <a:solidFill>
                  <a:schemeClr val="bg2">
                    <a:lumMod val="25000"/>
                  </a:schemeClr>
                </a:solidFill>
                <a:latin typeface="Times New Roman" panose="02020603050405020304" charset="0"/>
                <a:sym typeface="+mn-ea"/>
              </a:rPr>
              <a:t> detection</a:t>
            </a:r>
            <a:endParaRPr lang="zh-CN" altLang="en-US" sz="1000" b="1">
              <a:solidFill>
                <a:schemeClr val="bg2">
                  <a:lumMod val="25000"/>
                </a:schemeClr>
              </a:solidFill>
              <a:latin typeface="Times New Roman" panose="02020603050405020304" charset="0"/>
            </a:endParaRPr>
          </a:p>
          <a:p>
            <a:pPr algn="ctr"/>
            <a:endParaRPr lang="zh-CN" altLang="en-US" sz="1000" b="1">
              <a:solidFill>
                <a:schemeClr val="bg2">
                  <a:lumMod val="25000"/>
                </a:schemeClr>
              </a:solidFill>
              <a:latin typeface="Times New Roman" panose="02020603050405020304" charset="0"/>
            </a:endParaRPr>
          </a:p>
          <a:p>
            <a:pPr algn="ctr"/>
            <a:endParaRPr lang="zh-CN" altLang="en-US" sz="1000" b="1">
              <a:solidFill>
                <a:schemeClr val="bg2">
                  <a:lumMod val="25000"/>
                </a:schemeClr>
              </a:solidFill>
              <a:latin typeface="Times New Roman" panose="02020603050405020304" charset="0"/>
            </a:endParaRPr>
          </a:p>
        </p:txBody>
      </p:sp>
      <p:sp>
        <p:nvSpPr>
          <p:cNvPr id="94" name="文本框 93"/>
          <p:cNvSpPr txBox="1"/>
          <p:nvPr/>
        </p:nvSpPr>
        <p:spPr>
          <a:xfrm>
            <a:off x="92710" y="4429125"/>
            <a:ext cx="84899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800" b="1">
                <a:solidFill>
                  <a:schemeClr val="bg2">
                    <a:lumMod val="25000"/>
                  </a:schemeClr>
                </a:solidFill>
                <a:latin typeface="Times New Roman" panose="02020603050405020304" charset="0"/>
              </a:rPr>
              <a:t>Environmental </a:t>
            </a:r>
            <a:br>
              <a:rPr lang="zh-CN" altLang="en-US" sz="800" b="1">
                <a:solidFill>
                  <a:schemeClr val="bg2">
                    <a:lumMod val="25000"/>
                  </a:schemeClr>
                </a:solidFill>
                <a:latin typeface="Times New Roman" panose="02020603050405020304" charset="0"/>
              </a:rPr>
            </a:br>
            <a:r>
              <a:rPr lang="zh-CN" altLang="en-US" sz="800" b="1">
                <a:solidFill>
                  <a:schemeClr val="bg2">
                    <a:lumMod val="25000"/>
                  </a:schemeClr>
                </a:solidFill>
                <a:latin typeface="Times New Roman" panose="02020603050405020304" charset="0"/>
              </a:rPr>
              <a:t>report</a:t>
            </a:r>
            <a:endParaRPr lang="zh-CN" altLang="en-US" sz="800" b="1">
              <a:solidFill>
                <a:schemeClr val="bg2">
                  <a:lumMod val="25000"/>
                </a:schemeClr>
              </a:solidFill>
              <a:latin typeface="Times New Roman" panose="02020603050405020304" charset="0"/>
            </a:endParaRPr>
          </a:p>
        </p:txBody>
      </p:sp>
      <p:pic>
        <p:nvPicPr>
          <p:cNvPr id="95" name="图片 94" descr="报告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3680" y="4023995"/>
            <a:ext cx="426720" cy="426720"/>
          </a:xfrm>
          <a:prstGeom prst="rect">
            <a:avLst/>
          </a:prstGeom>
        </p:spPr>
      </p:pic>
      <p:pic>
        <p:nvPicPr>
          <p:cNvPr id="99" name="图片 98" descr="DP-节点-采样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21510" y="3745230"/>
            <a:ext cx="433070" cy="433070"/>
          </a:xfrm>
          <a:prstGeom prst="rect">
            <a:avLst/>
          </a:prstGeom>
        </p:spPr>
      </p:pic>
      <p:sp>
        <p:nvSpPr>
          <p:cNvPr id="105" name="文本框 104"/>
          <p:cNvSpPr txBox="1"/>
          <p:nvPr/>
        </p:nvSpPr>
        <p:spPr>
          <a:xfrm>
            <a:off x="2691130" y="4314190"/>
            <a:ext cx="182181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sz="1000" b="1">
                <a:solidFill>
                  <a:schemeClr val="bg2">
                    <a:lumMod val="25000"/>
                  </a:schemeClr>
                </a:solidFill>
                <a:latin typeface="Times New Roman" panose="02020603050405020304" charset="0"/>
              </a:rPr>
              <a:t>PPR starting area selection</a:t>
            </a:r>
            <a:endParaRPr sz="1000" b="1">
              <a:solidFill>
                <a:schemeClr val="bg2">
                  <a:lumMod val="25000"/>
                </a:schemeClr>
              </a:solidFill>
              <a:latin typeface="Times New Roman" panose="02020603050405020304" charset="0"/>
            </a:endParaRPr>
          </a:p>
        </p:txBody>
      </p:sp>
      <p:pic>
        <p:nvPicPr>
          <p:cNvPr id="109" name="图片 10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3680" y="2609215"/>
            <a:ext cx="958850" cy="675640"/>
          </a:xfrm>
          <a:prstGeom prst="rect">
            <a:avLst/>
          </a:prstGeom>
        </p:spPr>
      </p:pic>
      <p:sp>
        <p:nvSpPr>
          <p:cNvPr id="111" name="文本框 110"/>
          <p:cNvSpPr txBox="1"/>
          <p:nvPr/>
        </p:nvSpPr>
        <p:spPr>
          <a:xfrm>
            <a:off x="4564380" y="4371340"/>
            <a:ext cx="85788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 b="1">
                <a:solidFill>
                  <a:schemeClr val="bg2">
                    <a:lumMod val="50000"/>
                  </a:schemeClr>
                </a:solidFill>
                <a:latin typeface="Times New Roman" panose="02020603050405020304" charset="0"/>
              </a:rPr>
              <a:t>PPR score</a:t>
            </a:r>
            <a:endParaRPr lang="zh-CN" altLang="en-US" sz="1200" b="1">
              <a:solidFill>
                <a:schemeClr val="bg2">
                  <a:lumMod val="50000"/>
                </a:schemeClr>
              </a:solidFill>
              <a:latin typeface="Times New Roman" panose="02020603050405020304" charset="0"/>
            </a:endParaRPr>
          </a:p>
        </p:txBody>
      </p:sp>
      <p:cxnSp>
        <p:nvCxnSpPr>
          <p:cNvPr id="121" name="肘形连接符 120"/>
          <p:cNvCxnSpPr/>
          <p:nvPr/>
        </p:nvCxnSpPr>
        <p:spPr>
          <a:xfrm>
            <a:off x="2366010" y="3961130"/>
            <a:ext cx="401955" cy="173355"/>
          </a:xfrm>
          <a:prstGeom prst="bentConnector3">
            <a:avLst>
              <a:gd name="adj1" fmla="val 50079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25" name="图片 124" descr="机器人_o (6)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62675" y="2609215"/>
            <a:ext cx="586800" cy="586800"/>
          </a:xfrm>
          <a:prstGeom prst="rect">
            <a:avLst/>
          </a:prstGeom>
        </p:spPr>
      </p:pic>
      <p:pic>
        <p:nvPicPr>
          <p:cNvPr id="126" name="图片 125" descr="机器人_o (6)"/>
          <p:cNvPicPr>
            <a:picLocks noChangeAspect="1"/>
          </p:cNvPicPr>
          <p:nvPr/>
        </p:nvPicPr>
        <p:blipFill>
          <a:blip r:embed="rId9">
            <a:alphaModFix amt="42000"/>
          </a:blip>
          <a:stretch>
            <a:fillRect/>
          </a:stretch>
        </p:blipFill>
        <p:spPr>
          <a:xfrm>
            <a:off x="882650" y="1385570"/>
            <a:ext cx="500400" cy="500400"/>
          </a:xfrm>
          <a:prstGeom prst="rect">
            <a:avLst/>
          </a:prstGeom>
        </p:spPr>
      </p:pic>
      <p:sp>
        <p:nvSpPr>
          <p:cNvPr id="130" name="文本框 129"/>
          <p:cNvSpPr txBox="1"/>
          <p:nvPr/>
        </p:nvSpPr>
        <p:spPr>
          <a:xfrm>
            <a:off x="6079490" y="3469005"/>
            <a:ext cx="101473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900" b="1">
                <a:solidFill>
                  <a:schemeClr val="bg2">
                    <a:lumMod val="25000"/>
                  </a:schemeClr>
                </a:solidFill>
                <a:latin typeface="Times New Roman" panose="02020603050405020304" charset="0"/>
              </a:rPr>
              <a:t>Sampled nodes</a:t>
            </a:r>
            <a:endParaRPr lang="zh-CN" altLang="en-US" sz="900" b="1">
              <a:solidFill>
                <a:schemeClr val="bg2">
                  <a:lumMod val="25000"/>
                </a:schemeClr>
              </a:solidFill>
              <a:latin typeface="Times New Roman" panose="02020603050405020304" charset="0"/>
            </a:endParaRPr>
          </a:p>
        </p:txBody>
      </p:sp>
      <p:sp>
        <p:nvSpPr>
          <p:cNvPr id="131" name="文本框 130"/>
          <p:cNvSpPr txBox="1"/>
          <p:nvPr/>
        </p:nvSpPr>
        <p:spPr>
          <a:xfrm>
            <a:off x="7552690" y="3500120"/>
            <a:ext cx="1094105" cy="747395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 cmpd="sng">
            <a:solidFill>
              <a:schemeClr val="accent4">
                <a:lumMod val="75000"/>
              </a:schemeClr>
            </a:solidFill>
            <a:prstDash val="solid"/>
          </a:ln>
        </p:spPr>
        <p:txBody>
          <a:bodyPr wrap="square" rtlCol="0">
            <a:noAutofit/>
          </a:bodyPr>
          <a:p>
            <a:pPr algn="ctr"/>
            <a:r>
              <a:rPr lang="en-US" altLang="zh-CN" sz="1400" b="1">
                <a:solidFill>
                  <a:schemeClr val="tx1"/>
                </a:solidFill>
                <a:latin typeface="Times New Roman" panose="02020603050405020304" charset="0"/>
              </a:rPr>
              <a:t> I</a:t>
            </a:r>
            <a:r>
              <a:rPr lang="zh-CN" altLang="en-US" sz="1400" b="1">
                <a:solidFill>
                  <a:schemeClr val="tx1"/>
                </a:solidFill>
                <a:latin typeface="Times New Roman" panose="02020603050405020304" charset="0"/>
              </a:rPr>
              <a:t>ngest </a:t>
            </a:r>
            <a:endParaRPr lang="zh-CN" altLang="en-US" sz="1400" b="1">
              <a:solidFill>
                <a:schemeClr val="tx1"/>
              </a:solidFill>
              <a:latin typeface="Times New Roman" panose="02020603050405020304" charset="0"/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  <a:latin typeface="Times New Roman" panose="02020603050405020304" charset="0"/>
              </a:rPr>
              <a:t>sampled</a:t>
            </a:r>
            <a:endParaRPr lang="zh-CN" altLang="en-US" sz="1400" b="1">
              <a:solidFill>
                <a:schemeClr val="tx1"/>
              </a:solidFill>
              <a:latin typeface="Times New Roman" panose="02020603050405020304" charset="0"/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  <a:latin typeface="Times New Roman" panose="02020603050405020304" charset="0"/>
              </a:rPr>
              <a:t> data</a:t>
            </a:r>
            <a:endParaRPr lang="zh-CN" altLang="en-US" sz="1400" b="1">
              <a:solidFill>
                <a:schemeClr val="tx1"/>
              </a:solidFill>
              <a:latin typeface="Times New Roman" panose="02020603050405020304" charset="0"/>
            </a:endParaRPr>
          </a:p>
        </p:txBody>
      </p:sp>
      <p:pic>
        <p:nvPicPr>
          <p:cNvPr id="132" name="图片 131" descr="实时采样数据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21195" y="3528695"/>
            <a:ext cx="476250" cy="476250"/>
          </a:xfrm>
          <a:prstGeom prst="rect">
            <a:avLst/>
          </a:prstGeom>
        </p:spPr>
      </p:pic>
      <p:cxnSp>
        <p:nvCxnSpPr>
          <p:cNvPr id="135" name="直接箭头连接符 134"/>
          <p:cNvCxnSpPr/>
          <p:nvPr/>
        </p:nvCxnSpPr>
        <p:spPr>
          <a:xfrm>
            <a:off x="6501765" y="4798695"/>
            <a:ext cx="532130" cy="4445"/>
          </a:xfrm>
          <a:prstGeom prst="straightConnector1">
            <a:avLst/>
          </a:prstGeom>
          <a:ln w="19050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8" name="直接箭头连接符 137"/>
          <p:cNvCxnSpPr/>
          <p:nvPr/>
        </p:nvCxnSpPr>
        <p:spPr>
          <a:xfrm>
            <a:off x="7459980" y="4803140"/>
            <a:ext cx="821055" cy="0"/>
          </a:xfrm>
          <a:prstGeom prst="straightConnector1">
            <a:avLst/>
          </a:prstGeom>
          <a:ln w="19050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41" name="图片 140" descr="机器人_o (7)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61815" y="183515"/>
            <a:ext cx="586800" cy="586800"/>
          </a:xfrm>
          <a:prstGeom prst="rect">
            <a:avLst/>
          </a:prstGeom>
        </p:spPr>
      </p:pic>
      <p:pic>
        <p:nvPicPr>
          <p:cNvPr id="142" name="图片 141" descr="机器人_o (7)"/>
          <p:cNvPicPr>
            <a:picLocks noChangeAspect="1"/>
          </p:cNvPicPr>
          <p:nvPr/>
        </p:nvPicPr>
        <p:blipFill>
          <a:blip r:embed="rId11">
            <a:alphaModFix amt="43000"/>
          </a:blip>
          <a:stretch>
            <a:fillRect/>
          </a:stretch>
        </p:blipFill>
        <p:spPr>
          <a:xfrm>
            <a:off x="1404620" y="1385570"/>
            <a:ext cx="500400" cy="500400"/>
          </a:xfrm>
          <a:prstGeom prst="rect">
            <a:avLst/>
          </a:prstGeom>
        </p:spPr>
      </p:pic>
      <p:sp>
        <p:nvSpPr>
          <p:cNvPr id="144" name="文本框 143"/>
          <p:cNvSpPr txBox="1"/>
          <p:nvPr/>
        </p:nvSpPr>
        <p:spPr>
          <a:xfrm>
            <a:off x="5994400" y="1200150"/>
            <a:ext cx="1323340" cy="59055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noAutofit/>
          </a:bodyPr>
          <a:p>
            <a:pPr algn="ctr"/>
            <a:endParaRPr lang="en-US" altLang="zh-CN" sz="600" b="1">
              <a:latin typeface="Times New Roman" panose="02020603050405020304" charset="0"/>
            </a:endParaRPr>
          </a:p>
          <a:p>
            <a:pPr algn="ctr"/>
            <a:r>
              <a:rPr lang="en-US" altLang="zh-CN" sz="1000" b="1">
                <a:latin typeface="Times New Roman" panose="02020603050405020304" charset="0"/>
              </a:rPr>
              <a:t>                 </a:t>
            </a:r>
            <a:r>
              <a:rPr lang="zh-CN" altLang="en-US" sz="1000" b="1">
                <a:latin typeface="Times New Roman" panose="02020603050405020304" charset="0"/>
              </a:rPr>
              <a:t>Quality </a:t>
            </a:r>
            <a:endParaRPr lang="zh-CN" altLang="en-US" sz="1000" b="1">
              <a:latin typeface="Times New Roman" panose="02020603050405020304" charset="0"/>
            </a:endParaRPr>
          </a:p>
          <a:p>
            <a:pPr algn="ctr"/>
            <a:r>
              <a:rPr lang="en-US" altLang="zh-CN" sz="1000" b="1">
                <a:latin typeface="Times New Roman" panose="02020603050405020304" charset="0"/>
              </a:rPr>
              <a:t>                </a:t>
            </a:r>
            <a:r>
              <a:rPr lang="zh-CN" altLang="en-US" sz="1000" b="1">
                <a:latin typeface="Times New Roman" panose="02020603050405020304" charset="0"/>
              </a:rPr>
              <a:t>evaluation</a:t>
            </a:r>
            <a:endParaRPr lang="zh-CN" altLang="en-US" sz="1000" b="1">
              <a:latin typeface="Times New Roman" panose="02020603050405020304" charset="0"/>
            </a:endParaRPr>
          </a:p>
        </p:txBody>
      </p:sp>
      <p:pic>
        <p:nvPicPr>
          <p:cNvPr id="145" name="图片 144" descr="118评估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52515" y="1259205"/>
            <a:ext cx="461010" cy="461010"/>
          </a:xfrm>
          <a:prstGeom prst="rect">
            <a:avLst/>
          </a:prstGeom>
        </p:spPr>
      </p:pic>
      <p:sp>
        <p:nvSpPr>
          <p:cNvPr id="147" name="文本框 146"/>
          <p:cNvSpPr txBox="1"/>
          <p:nvPr/>
        </p:nvSpPr>
        <p:spPr>
          <a:xfrm>
            <a:off x="7868920" y="260985"/>
            <a:ext cx="1040765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900" b="1">
                <a:solidFill>
                  <a:schemeClr val="tx1"/>
                </a:solidFill>
                <a:latin typeface="Times New Roman" panose="02020603050405020304" charset="0"/>
              </a:rPr>
              <a:t>Previous</a:t>
            </a:r>
            <a:endParaRPr lang="en-US" altLang="zh-CN" sz="900" b="1">
              <a:solidFill>
                <a:schemeClr val="tx1"/>
              </a:solidFill>
              <a:latin typeface="Times New Roman" panose="02020603050405020304" charset="0"/>
            </a:endParaRPr>
          </a:p>
          <a:p>
            <a:pPr algn="ctr"/>
            <a:r>
              <a:rPr lang="zh-CN" altLang="en-US" sz="900" b="1">
                <a:solidFill>
                  <a:schemeClr val="tx1"/>
                </a:solidFill>
                <a:latin typeface="Times New Roman" panose="02020603050405020304" charset="0"/>
              </a:rPr>
              <a:t>Environmental report</a:t>
            </a:r>
            <a:r>
              <a:rPr lang="en-US" altLang="zh-CN" sz="900" b="1">
                <a:solidFill>
                  <a:schemeClr val="tx1"/>
                </a:solidFill>
                <a:latin typeface="Times New Roman" panose="02020603050405020304" charset="0"/>
              </a:rPr>
              <a:t> </a:t>
            </a:r>
            <a:endParaRPr lang="en-US" altLang="zh-CN" sz="900" b="1">
              <a:solidFill>
                <a:schemeClr val="tx1"/>
              </a:solidFill>
              <a:latin typeface="Times New Roman" panose="02020603050405020304" charset="0"/>
            </a:endParaRPr>
          </a:p>
        </p:txBody>
      </p:sp>
      <p:pic>
        <p:nvPicPr>
          <p:cNvPr id="148" name="图片 147" descr="报告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9985" y="265430"/>
            <a:ext cx="467995" cy="467995"/>
          </a:xfrm>
          <a:prstGeom prst="rect">
            <a:avLst/>
          </a:prstGeom>
        </p:spPr>
      </p:pic>
      <p:sp>
        <p:nvSpPr>
          <p:cNvPr id="162" name="文本框 161"/>
          <p:cNvSpPr txBox="1"/>
          <p:nvPr/>
        </p:nvSpPr>
        <p:spPr>
          <a:xfrm>
            <a:off x="4120515" y="1833880"/>
            <a:ext cx="1078865" cy="2895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200" b="1">
                <a:latin typeface="Times New Roman" panose="02020603050405020304" charset="0"/>
              </a:rPr>
              <a:t>Convergence?</a:t>
            </a:r>
            <a:endParaRPr lang="en-US" altLang="zh-CN" sz="1200" b="1">
              <a:latin typeface="Times New Roman" panose="02020603050405020304" charset="0"/>
            </a:endParaRPr>
          </a:p>
        </p:txBody>
      </p:sp>
      <p:sp>
        <p:nvSpPr>
          <p:cNvPr id="187" name="矩形 186"/>
          <p:cNvSpPr/>
          <p:nvPr/>
        </p:nvSpPr>
        <p:spPr>
          <a:xfrm>
            <a:off x="3543935" y="148590"/>
            <a:ext cx="5840095" cy="2241550"/>
          </a:xfrm>
          <a:prstGeom prst="rect">
            <a:avLst/>
          </a:prstGeom>
          <a:noFill/>
          <a:ln w="28575" cmpd="sng">
            <a:solidFill>
              <a:schemeClr val="accent2">
                <a:lumMod val="75000"/>
              </a:schemeClr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9" name="矩形 188"/>
          <p:cNvSpPr/>
          <p:nvPr/>
        </p:nvSpPr>
        <p:spPr>
          <a:xfrm>
            <a:off x="5548630" y="2547620"/>
            <a:ext cx="3840480" cy="2894965"/>
          </a:xfrm>
          <a:prstGeom prst="rect">
            <a:avLst/>
          </a:prstGeom>
          <a:noFill/>
          <a:ln w="28575" cmpd="sng">
            <a:solidFill>
              <a:schemeClr val="accent5">
                <a:lumMod val="50000"/>
              </a:schemeClr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b="1">
              <a:latin typeface="Times New Roman" panose="02020603050405020304" charset="0"/>
              <a:sym typeface="+mn-ea"/>
            </a:endParaRPr>
          </a:p>
        </p:txBody>
      </p:sp>
      <p:pic>
        <p:nvPicPr>
          <p:cNvPr id="2" name="图片 1" descr="流程模版配置"/>
          <p:cNvPicPr>
            <a:picLocks noChangeAspect="1"/>
          </p:cNvPicPr>
          <p:nvPr/>
        </p:nvPicPr>
        <p:blipFill>
          <a:blip r:embed="rId13">
            <a:alphaModFix amt="85000"/>
          </a:blip>
          <a:stretch>
            <a:fillRect/>
          </a:stretch>
        </p:blipFill>
        <p:spPr>
          <a:xfrm>
            <a:off x="2115185" y="1774825"/>
            <a:ext cx="438785" cy="438785"/>
          </a:xfrm>
          <a:prstGeom prst="rect">
            <a:avLst/>
          </a:prstGeom>
        </p:spPr>
      </p:pic>
      <p:cxnSp>
        <p:nvCxnSpPr>
          <p:cNvPr id="5" name="直接箭头连接符 4"/>
          <p:cNvCxnSpPr/>
          <p:nvPr/>
        </p:nvCxnSpPr>
        <p:spPr>
          <a:xfrm flipH="1">
            <a:off x="1188085" y="2962910"/>
            <a:ext cx="1666875" cy="19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7" name="图片 6"/>
          <p:cNvPicPr>
            <a:picLocks noChangeAspect="1"/>
          </p:cNvPicPr>
          <p:nvPr/>
        </p:nvPicPr>
        <p:blipFill>
          <a:blip r:embed="rId8"/>
          <a:srcRect l="2119" t="48214" r="56556" b="1786"/>
          <a:stretch>
            <a:fillRect/>
          </a:stretch>
        </p:blipFill>
        <p:spPr>
          <a:xfrm>
            <a:off x="4831080" y="3833495"/>
            <a:ext cx="501650" cy="428625"/>
          </a:xfrm>
          <a:prstGeom prst="rect">
            <a:avLst/>
          </a:prstGeom>
          <a:ln w="6350">
            <a:solidFill>
              <a:schemeClr val="bg1">
                <a:lumMod val="75000"/>
              </a:schemeClr>
            </a:solidFill>
          </a:ln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80230" y="3907155"/>
            <a:ext cx="360045" cy="253365"/>
          </a:xfrm>
          <a:prstGeom prst="rect">
            <a:avLst/>
          </a:prstGeom>
          <a:ln w="6350">
            <a:solidFill>
              <a:schemeClr val="bg2"/>
            </a:solidFill>
          </a:ln>
        </p:spPr>
      </p:pic>
      <p:sp>
        <p:nvSpPr>
          <p:cNvPr id="9" name="矩形 8"/>
          <p:cNvSpPr/>
          <p:nvPr/>
        </p:nvSpPr>
        <p:spPr>
          <a:xfrm>
            <a:off x="4402455" y="4038600"/>
            <a:ext cx="149225" cy="111760"/>
          </a:xfrm>
          <a:prstGeom prst="rect">
            <a:avLst/>
          </a:prstGeom>
          <a:noFill/>
          <a:ln w="6350" cmpd="sng">
            <a:solidFill>
              <a:schemeClr val="accent6">
                <a:lumMod val="75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1" name="直接箭头连接符 10"/>
          <p:cNvCxnSpPr>
            <a:stCxn id="9" idx="3"/>
            <a:endCxn id="7" idx="1"/>
          </p:cNvCxnSpPr>
          <p:nvPr/>
        </p:nvCxnSpPr>
        <p:spPr>
          <a:xfrm flipV="1">
            <a:off x="4551680" y="4048125"/>
            <a:ext cx="279400" cy="46355"/>
          </a:xfrm>
          <a:prstGeom prst="straightConnector1">
            <a:avLst/>
          </a:prstGeom>
          <a:ln w="9525" cmpd="sng">
            <a:solidFill>
              <a:schemeClr val="accent6">
                <a:lumMod val="50000"/>
              </a:schemeClr>
            </a:solidFill>
            <a:prstDash val="sysDash"/>
            <a:tailEnd type="stealt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3" name="图片 12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740275" y="4662805"/>
            <a:ext cx="581025" cy="325120"/>
          </a:xfrm>
          <a:prstGeom prst="rect">
            <a:avLst/>
          </a:prstGeom>
        </p:spPr>
      </p:pic>
      <p:cxnSp>
        <p:nvCxnSpPr>
          <p:cNvPr id="17" name="直接箭头连接符 16"/>
          <p:cNvCxnSpPr/>
          <p:nvPr/>
        </p:nvCxnSpPr>
        <p:spPr>
          <a:xfrm flipH="1" flipV="1">
            <a:off x="4113530" y="4826000"/>
            <a:ext cx="626745" cy="38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3587750" y="4826000"/>
            <a:ext cx="65659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900" b="1">
                <a:solidFill>
                  <a:schemeClr val="bg2">
                    <a:lumMod val="50000"/>
                  </a:schemeClr>
                </a:solidFill>
                <a:latin typeface="Times New Roman" panose="02020603050405020304" charset="0"/>
              </a:rPr>
              <a:t>Top K%</a:t>
            </a:r>
            <a:endParaRPr lang="en-US" altLang="zh-CN" sz="900" b="1">
              <a:solidFill>
                <a:schemeClr val="bg2">
                  <a:lumMod val="50000"/>
                </a:schemeClr>
              </a:solidFill>
              <a:latin typeface="Times New Roman" panose="02020603050405020304" charset="0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3749040" y="4657090"/>
            <a:ext cx="187200" cy="1873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2222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1" name="直接箭头连接符 20"/>
          <p:cNvCxnSpPr/>
          <p:nvPr/>
        </p:nvCxnSpPr>
        <p:spPr>
          <a:xfrm rot="5400000" flipV="1">
            <a:off x="4907230" y="4377105"/>
            <a:ext cx="216000" cy="12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6" name="文本框 25"/>
          <p:cNvSpPr txBox="1"/>
          <p:nvPr/>
        </p:nvSpPr>
        <p:spPr>
          <a:xfrm>
            <a:off x="6521450" y="255905"/>
            <a:ext cx="1019810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900" b="1">
                <a:solidFill>
                  <a:schemeClr val="tx1"/>
                </a:solidFill>
                <a:latin typeface="Times New Roman" panose="02020603050405020304" charset="0"/>
              </a:rPr>
              <a:t>Current </a:t>
            </a:r>
            <a:r>
              <a:rPr lang="zh-CN" altLang="en-US" sz="900" b="1">
                <a:solidFill>
                  <a:schemeClr val="tx1"/>
                </a:solidFill>
                <a:latin typeface="Times New Roman" panose="02020603050405020304" charset="0"/>
              </a:rPr>
              <a:t>Environmental report</a:t>
            </a:r>
            <a:r>
              <a:rPr lang="en-US" altLang="zh-CN" sz="900" b="1">
                <a:solidFill>
                  <a:schemeClr val="tx1"/>
                </a:solidFill>
                <a:latin typeface="Times New Roman" panose="02020603050405020304" charset="0"/>
              </a:rPr>
              <a:t> </a:t>
            </a:r>
            <a:endParaRPr lang="en-US" altLang="zh-CN" sz="900" b="1">
              <a:solidFill>
                <a:schemeClr val="tx1"/>
              </a:solidFill>
              <a:latin typeface="Times New Roman" panose="02020603050405020304" charset="0"/>
            </a:endParaRPr>
          </a:p>
        </p:txBody>
      </p:sp>
      <p:sp>
        <p:nvSpPr>
          <p:cNvPr id="139" name="文本框 138"/>
          <p:cNvSpPr txBox="1"/>
          <p:nvPr/>
        </p:nvSpPr>
        <p:spPr>
          <a:xfrm>
            <a:off x="8380095" y="2971165"/>
            <a:ext cx="958850" cy="6807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200" b="1">
                <a:latin typeface="Times New Roman" panose="02020603050405020304" charset="0"/>
              </a:rPr>
              <a:t>O</a:t>
            </a:r>
            <a:r>
              <a:rPr lang="zh-CN" altLang="en-US" sz="1200" b="1">
                <a:latin typeface="Times New Roman" panose="02020603050405020304" charset="0"/>
              </a:rPr>
              <a:t>utput </a:t>
            </a:r>
            <a:endParaRPr lang="zh-CN" altLang="en-US" sz="1200" b="1">
              <a:latin typeface="Times New Roman" panose="02020603050405020304" charset="0"/>
            </a:endParaRPr>
          </a:p>
          <a:p>
            <a:pPr algn="ctr"/>
            <a:r>
              <a:rPr lang="zh-CN" altLang="en-US" sz="1200" b="1">
                <a:latin typeface="Times New Roman" panose="02020603050405020304" charset="0"/>
              </a:rPr>
              <a:t>augmented</a:t>
            </a:r>
            <a:r>
              <a:rPr lang="en-US" altLang="zh-CN" sz="1200" b="1">
                <a:latin typeface="Times New Roman" panose="02020603050405020304" charset="0"/>
              </a:rPr>
              <a:t>              </a:t>
            </a:r>
            <a:endParaRPr lang="en-US" altLang="zh-CN" sz="1200" b="1">
              <a:latin typeface="Times New Roman" panose="02020603050405020304" charset="0"/>
            </a:endParaRPr>
          </a:p>
          <a:p>
            <a:pPr algn="ctr"/>
            <a:r>
              <a:rPr lang="zh-CN" altLang="en-US" sz="1200" b="1">
                <a:latin typeface="Times New Roman" panose="02020603050405020304" charset="0"/>
              </a:rPr>
              <a:t>data</a:t>
            </a:r>
            <a:endParaRPr lang="zh-CN" altLang="en-US" sz="1200" b="1">
              <a:latin typeface="Times New Roman" panose="02020603050405020304" charset="0"/>
            </a:endParaRPr>
          </a:p>
        </p:txBody>
      </p:sp>
      <p:cxnSp>
        <p:nvCxnSpPr>
          <p:cNvPr id="39" name="肘形连接符 38"/>
          <p:cNvCxnSpPr>
            <a:stCxn id="132" idx="2"/>
            <a:endCxn id="134" idx="0"/>
          </p:cNvCxnSpPr>
          <p:nvPr/>
        </p:nvCxnSpPr>
        <p:spPr>
          <a:xfrm rot="5400000">
            <a:off x="6422390" y="3669665"/>
            <a:ext cx="501650" cy="1172210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830185" y="1685925"/>
            <a:ext cx="637540" cy="51117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8432800" y="1790700"/>
            <a:ext cx="10217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900" b="1">
                <a:solidFill>
                  <a:schemeClr val="tx1"/>
                </a:solidFill>
                <a:latin typeface="Times New Roman" panose="02020603050405020304" charset="0"/>
              </a:rPr>
              <a:t>Augmented </a:t>
            </a:r>
            <a:br>
              <a:rPr lang="en-US" sz="900" b="1">
                <a:solidFill>
                  <a:schemeClr val="tx1"/>
                </a:solidFill>
                <a:latin typeface="Times New Roman" panose="02020603050405020304" charset="0"/>
              </a:rPr>
            </a:br>
            <a:r>
              <a:rPr lang="en-US" sz="900" b="1">
                <a:solidFill>
                  <a:schemeClr val="tx1"/>
                </a:solidFill>
                <a:latin typeface="Times New Roman" panose="02020603050405020304" charset="0"/>
              </a:rPr>
              <a:t>data</a:t>
            </a:r>
            <a:endParaRPr lang="en-US" sz="900" b="1">
              <a:solidFill>
                <a:schemeClr val="tx1"/>
              </a:solidFill>
              <a:latin typeface="Times New Roman" panose="02020603050405020304" charset="0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3990" y="1085215"/>
            <a:ext cx="673735" cy="443230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8392160" y="1116330"/>
            <a:ext cx="10299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900" b="1">
                <a:solidFill>
                  <a:schemeClr val="tx1"/>
                </a:solidFill>
                <a:latin typeface="Times New Roman" panose="02020603050405020304" charset="0"/>
              </a:rPr>
              <a:t>Sampled  </a:t>
            </a:r>
            <a:br>
              <a:rPr lang="en-US" sz="900" b="1">
                <a:solidFill>
                  <a:schemeClr val="tx1"/>
                </a:solidFill>
                <a:latin typeface="Times New Roman" panose="02020603050405020304" charset="0"/>
              </a:rPr>
            </a:br>
            <a:r>
              <a:rPr lang="en-US" sz="900" b="1">
                <a:solidFill>
                  <a:schemeClr val="tx1"/>
                </a:solidFill>
                <a:latin typeface="Times New Roman" panose="02020603050405020304" charset="0"/>
              </a:rPr>
              <a:t>data</a:t>
            </a:r>
            <a:endParaRPr lang="en-US" sz="900" b="1">
              <a:solidFill>
                <a:schemeClr val="tx1"/>
              </a:solidFill>
              <a:latin typeface="Times New Roman" panose="02020603050405020304" charset="0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5245100" y="884555"/>
            <a:ext cx="86106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 b="1">
                <a:latin typeface="Times New Roman" panose="02020603050405020304" charset="0"/>
              </a:rPr>
              <a:t>Augmented data update</a:t>
            </a:r>
            <a:endParaRPr lang="en-US" altLang="zh-CN" sz="1000" b="1">
              <a:latin typeface="Times New Roman" panose="02020603050405020304" charset="0"/>
            </a:endParaRPr>
          </a:p>
        </p:txBody>
      </p:sp>
      <p:cxnSp>
        <p:nvCxnSpPr>
          <p:cNvPr id="30" name="肘形连接符 29"/>
          <p:cNvCxnSpPr>
            <a:stCxn id="144" idx="2"/>
            <a:endCxn id="98" idx="3"/>
          </p:cNvCxnSpPr>
          <p:nvPr/>
        </p:nvCxnSpPr>
        <p:spPr>
          <a:xfrm rot="5400000">
            <a:off x="5872163" y="1209358"/>
            <a:ext cx="202565" cy="1365250"/>
          </a:xfrm>
          <a:prstGeom prst="bentConnector2">
            <a:avLst/>
          </a:prstGeom>
          <a:ln w="1905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2" name="文本框 31"/>
          <p:cNvSpPr txBox="1"/>
          <p:nvPr/>
        </p:nvSpPr>
        <p:spPr>
          <a:xfrm>
            <a:off x="5537835" y="1968500"/>
            <a:ext cx="167513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 b="1">
                <a:latin typeface="Times New Roman" panose="02020603050405020304" charset="0"/>
              </a:rPr>
              <a:t>Determine task progress</a:t>
            </a:r>
            <a:endParaRPr lang="en-US" altLang="zh-CN" sz="1000" b="1">
              <a:latin typeface="Times New Roman" panose="02020603050405020304" charset="0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1906270" y="3399790"/>
            <a:ext cx="3469005" cy="233045"/>
          </a:xfrm>
          <a:prstGeom prst="rect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wrap="square" rtlCol="0">
            <a:noAutofit/>
          </a:bodyPr>
          <a:p>
            <a:pPr algn="ctr"/>
            <a:r>
              <a:rPr lang="en-US" altLang="zh-CN" sz="1200" b="1">
                <a:solidFill>
                  <a:schemeClr val="tx1"/>
                </a:solidFill>
                <a:latin typeface="Times New Roman" panose="02020603050405020304" charset="0"/>
                <a:sym typeface="+mn-ea"/>
              </a:rPr>
              <a:t>N</a:t>
            </a:r>
            <a:r>
              <a:rPr lang="zh-CN" altLang="en-US" sz="1200" b="1">
                <a:solidFill>
                  <a:schemeClr val="tx1"/>
                </a:solidFill>
                <a:latin typeface="Times New Roman" panose="02020603050405020304" charset="0"/>
                <a:sym typeface="+mn-ea"/>
              </a:rPr>
              <a:t>ode sampling strategy</a:t>
            </a:r>
            <a:endParaRPr lang="zh-CN" altLang="en-US" sz="1200" b="1">
              <a:solidFill>
                <a:schemeClr val="tx1"/>
              </a:solidFill>
              <a:latin typeface="Times New Roman" panose="02020603050405020304" charset="0"/>
              <a:sym typeface="+mn-ea"/>
            </a:endParaRPr>
          </a:p>
        </p:txBody>
      </p:sp>
      <p:cxnSp>
        <p:nvCxnSpPr>
          <p:cNvPr id="46" name="直接箭头连接符 45"/>
          <p:cNvCxnSpPr/>
          <p:nvPr/>
        </p:nvCxnSpPr>
        <p:spPr>
          <a:xfrm flipH="1" flipV="1">
            <a:off x="3383915" y="1990090"/>
            <a:ext cx="648000" cy="3810"/>
          </a:xfrm>
          <a:prstGeom prst="straightConnector1">
            <a:avLst/>
          </a:prstGeom>
          <a:ln w="57150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4524375" y="3100705"/>
            <a:ext cx="65278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 b="1">
                <a:solidFill>
                  <a:schemeClr val="bg2">
                    <a:lumMod val="25000"/>
                  </a:schemeClr>
                </a:solidFill>
                <a:latin typeface="Times New Roman" panose="02020603050405020304" charset="0"/>
              </a:rPr>
              <a:t>Dataset</a:t>
            </a:r>
            <a:endParaRPr lang="en-US" altLang="zh-CN" sz="1000" b="1">
              <a:solidFill>
                <a:schemeClr val="bg2">
                  <a:lumMod val="25000"/>
                </a:schemeClr>
              </a:solidFill>
              <a:latin typeface="Times New Roman" panose="02020603050405020304" charset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2322195" y="577850"/>
            <a:ext cx="652780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 b="1">
                <a:solidFill>
                  <a:schemeClr val="bg2">
                    <a:lumMod val="25000"/>
                  </a:schemeClr>
                </a:solidFill>
                <a:latin typeface="Times New Roman" panose="02020603050405020304" charset="0"/>
              </a:rPr>
              <a:t>Dataset</a:t>
            </a:r>
            <a:endParaRPr lang="en-US" altLang="zh-CN" sz="1000" b="1">
              <a:solidFill>
                <a:schemeClr val="bg2">
                  <a:lumMod val="25000"/>
                </a:schemeClr>
              </a:solidFill>
              <a:latin typeface="Times New Roman" panose="02020603050405020304" charset="0"/>
            </a:endParaRPr>
          </a:p>
        </p:txBody>
      </p:sp>
      <p:pic>
        <p:nvPicPr>
          <p:cNvPr id="27" name="图片 26" descr="数据库 (2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41245" y="144145"/>
            <a:ext cx="542925" cy="542925"/>
          </a:xfrm>
          <a:prstGeom prst="rect">
            <a:avLst/>
          </a:prstGeom>
        </p:spPr>
      </p:pic>
      <p:cxnSp>
        <p:nvCxnSpPr>
          <p:cNvPr id="45" name="直接箭头连接符 44"/>
          <p:cNvCxnSpPr/>
          <p:nvPr/>
        </p:nvCxnSpPr>
        <p:spPr>
          <a:xfrm flipH="1" flipV="1">
            <a:off x="2616518" y="822643"/>
            <a:ext cx="5080" cy="262255"/>
          </a:xfrm>
          <a:prstGeom prst="straightConnector1">
            <a:avLst/>
          </a:prstGeom>
          <a:ln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50" name="图片 49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812415" y="2642235"/>
            <a:ext cx="859155" cy="595630"/>
          </a:xfrm>
          <a:prstGeom prst="rect">
            <a:avLst/>
          </a:prstGeom>
        </p:spPr>
      </p:pic>
      <p:pic>
        <p:nvPicPr>
          <p:cNvPr id="51" name="图片 50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283575" y="4453890"/>
            <a:ext cx="875030" cy="717550"/>
          </a:xfrm>
          <a:prstGeom prst="rect">
            <a:avLst/>
          </a:prstGeom>
        </p:spPr>
      </p:pic>
      <p:sp>
        <p:nvSpPr>
          <p:cNvPr id="52" name="文本框 51"/>
          <p:cNvSpPr txBox="1"/>
          <p:nvPr/>
        </p:nvSpPr>
        <p:spPr>
          <a:xfrm>
            <a:off x="871855" y="4422140"/>
            <a:ext cx="7239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800" b="1">
                <a:solidFill>
                  <a:schemeClr val="bg2">
                    <a:lumMod val="25000"/>
                  </a:schemeClr>
                </a:solidFill>
                <a:latin typeface="Times New Roman" panose="02020603050405020304" charset="0"/>
              </a:rPr>
              <a:t>Synthesis Task</a:t>
            </a:r>
            <a:endParaRPr lang="zh-CN" altLang="en-US" sz="800" b="1">
              <a:solidFill>
                <a:schemeClr val="bg2">
                  <a:lumMod val="25000"/>
                </a:schemeClr>
              </a:solidFill>
              <a:latin typeface="Times New Roman" panose="02020603050405020304" charset="0"/>
            </a:endParaRPr>
          </a:p>
        </p:txBody>
      </p:sp>
      <p:cxnSp>
        <p:nvCxnSpPr>
          <p:cNvPr id="56" name="肘形连接符 55"/>
          <p:cNvCxnSpPr/>
          <p:nvPr/>
        </p:nvCxnSpPr>
        <p:spPr>
          <a:xfrm rot="5400000">
            <a:off x="387985" y="3594735"/>
            <a:ext cx="495935" cy="362585"/>
          </a:xfrm>
          <a:prstGeom prst="bentConnector3">
            <a:avLst>
              <a:gd name="adj1" fmla="val 50064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7" name="肘形连接符 56"/>
          <p:cNvCxnSpPr/>
          <p:nvPr/>
        </p:nvCxnSpPr>
        <p:spPr>
          <a:xfrm rot="5400000" flipV="1">
            <a:off x="649605" y="3472815"/>
            <a:ext cx="721360" cy="386080"/>
          </a:xfrm>
          <a:prstGeom prst="bentConnector3">
            <a:avLst>
              <a:gd name="adj1" fmla="val 64876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67" name="图片 66" descr="合成 (2)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783205" y="3745230"/>
            <a:ext cx="232377" cy="226800"/>
          </a:xfrm>
          <a:prstGeom prst="rect">
            <a:avLst/>
          </a:prstGeom>
        </p:spPr>
      </p:pic>
      <p:pic>
        <p:nvPicPr>
          <p:cNvPr id="68" name="图片 67" descr="合成 (1)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783205" y="4050030"/>
            <a:ext cx="231140" cy="227330"/>
          </a:xfrm>
          <a:prstGeom prst="rect">
            <a:avLst/>
          </a:prstGeom>
        </p:spPr>
      </p:pic>
      <p:cxnSp>
        <p:nvCxnSpPr>
          <p:cNvPr id="70" name="肘形连接符 69"/>
          <p:cNvCxnSpPr>
            <a:endCxn id="67" idx="1"/>
          </p:cNvCxnSpPr>
          <p:nvPr/>
        </p:nvCxnSpPr>
        <p:spPr>
          <a:xfrm flipV="1">
            <a:off x="2354580" y="3858895"/>
            <a:ext cx="428625" cy="102235"/>
          </a:xfrm>
          <a:prstGeom prst="bentConnector3">
            <a:avLst>
              <a:gd name="adj1" fmla="val 50074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1" name="文本框 70"/>
          <p:cNvSpPr txBox="1"/>
          <p:nvPr/>
        </p:nvSpPr>
        <p:spPr>
          <a:xfrm>
            <a:off x="2918460" y="3698875"/>
            <a:ext cx="89852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800" b="1">
                <a:solidFill>
                  <a:schemeClr val="bg2">
                    <a:lumMod val="50000"/>
                  </a:schemeClr>
                </a:solidFill>
                <a:latin typeface="Times New Roman" panose="02020603050405020304" charset="0"/>
              </a:rPr>
              <a:t>Semantic Enhancement</a:t>
            </a:r>
            <a:endParaRPr lang="zh-CN" altLang="en-US" sz="800" b="1">
              <a:solidFill>
                <a:schemeClr val="bg2">
                  <a:lumMod val="50000"/>
                </a:schemeClr>
              </a:solidFill>
              <a:latin typeface="Times New Roman" panose="02020603050405020304" charset="0"/>
            </a:endParaRPr>
          </a:p>
        </p:txBody>
      </p:sp>
      <p:sp>
        <p:nvSpPr>
          <p:cNvPr id="72" name="文本框 71"/>
          <p:cNvSpPr txBox="1"/>
          <p:nvPr/>
        </p:nvSpPr>
        <p:spPr>
          <a:xfrm>
            <a:off x="3009265" y="4003675"/>
            <a:ext cx="78422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800" b="1">
                <a:solidFill>
                  <a:schemeClr val="bg2">
                    <a:lumMod val="50000"/>
                  </a:schemeClr>
                </a:solidFill>
                <a:latin typeface="Times New Roman" panose="02020603050405020304" charset="0"/>
              </a:rPr>
              <a:t>Topology Enhancement</a:t>
            </a:r>
            <a:endParaRPr lang="zh-CN" altLang="en-US" sz="800" b="1">
              <a:solidFill>
                <a:schemeClr val="bg2">
                  <a:lumMod val="50000"/>
                </a:schemeClr>
              </a:solidFill>
              <a:latin typeface="Times New Roman" panose="02020603050405020304" charset="0"/>
            </a:endParaRPr>
          </a:p>
        </p:txBody>
      </p:sp>
      <p:sp>
        <p:nvSpPr>
          <p:cNvPr id="73" name="文本框 72"/>
          <p:cNvSpPr txBox="1"/>
          <p:nvPr/>
        </p:nvSpPr>
        <p:spPr>
          <a:xfrm>
            <a:off x="3683635" y="3688080"/>
            <a:ext cx="567690" cy="3867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>
              <a:buClrTx/>
              <a:buSzTx/>
              <a:buFontTx/>
            </a:pPr>
            <a:r>
              <a:rPr lang="zh-CN" altLang="en-US" sz="600" b="1">
                <a:solidFill>
                  <a:schemeClr val="accent6">
                    <a:lumMod val="50000"/>
                  </a:schemeClr>
                </a:solidFill>
                <a:latin typeface="Times New Roman" panose="02020603050405020304" charset="0"/>
              </a:rPr>
              <a:t>Louvain community clustering</a:t>
            </a:r>
            <a:endParaRPr lang="zh-CN" altLang="en-US" sz="600" b="1">
              <a:solidFill>
                <a:schemeClr val="accent6">
                  <a:lumMod val="50000"/>
                </a:schemeClr>
              </a:solidFill>
              <a:latin typeface="Times New Roman" panose="02020603050405020304" charset="0"/>
            </a:endParaRPr>
          </a:p>
        </p:txBody>
      </p:sp>
      <p:sp>
        <p:nvSpPr>
          <p:cNvPr id="74" name="文本框 73"/>
          <p:cNvSpPr txBox="1"/>
          <p:nvPr/>
        </p:nvSpPr>
        <p:spPr>
          <a:xfrm>
            <a:off x="3693160" y="4092575"/>
            <a:ext cx="650240" cy="1835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600" b="1">
                <a:solidFill>
                  <a:schemeClr val="accent1">
                    <a:lumMod val="50000"/>
                  </a:schemeClr>
                </a:solidFill>
                <a:latin typeface="Times New Roman" panose="02020603050405020304" charset="0"/>
              </a:rPr>
              <a:t>few-shot label</a:t>
            </a:r>
            <a:endParaRPr lang="zh-CN" altLang="en-US" sz="600" b="1">
              <a:solidFill>
                <a:schemeClr val="accent1">
                  <a:lumMod val="50000"/>
                </a:schemeClr>
              </a:solidFill>
              <a:latin typeface="Times New Roman" panose="02020603050405020304" charset="0"/>
            </a:endParaRPr>
          </a:p>
        </p:txBody>
      </p:sp>
      <p:cxnSp>
        <p:nvCxnSpPr>
          <p:cNvPr id="76" name="直接连接符 75"/>
          <p:cNvCxnSpPr/>
          <p:nvPr/>
        </p:nvCxnSpPr>
        <p:spPr>
          <a:xfrm>
            <a:off x="3659505" y="3905885"/>
            <a:ext cx="97790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8" name="直接连接符 77"/>
          <p:cNvCxnSpPr/>
          <p:nvPr/>
        </p:nvCxnSpPr>
        <p:spPr>
          <a:xfrm>
            <a:off x="3659505" y="4187190"/>
            <a:ext cx="97790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1" name="直接箭头连接符 80"/>
          <p:cNvCxnSpPr/>
          <p:nvPr/>
        </p:nvCxnSpPr>
        <p:spPr>
          <a:xfrm>
            <a:off x="4204335" y="3886200"/>
            <a:ext cx="165100" cy="131445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83" name="图片 82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287520" y="929640"/>
            <a:ext cx="821690" cy="697865"/>
          </a:xfrm>
          <a:prstGeom prst="rect">
            <a:avLst/>
          </a:prstGeom>
        </p:spPr>
      </p:pic>
      <p:sp>
        <p:nvSpPr>
          <p:cNvPr id="91" name="文本框 90"/>
          <p:cNvSpPr txBox="1"/>
          <p:nvPr/>
        </p:nvSpPr>
        <p:spPr>
          <a:xfrm>
            <a:off x="2595245" y="1736090"/>
            <a:ext cx="763905" cy="5327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200" b="1">
                <a:latin typeface="Times New Roman" panose="02020603050405020304" charset="0"/>
                <a:sym typeface="+mn-ea"/>
              </a:rPr>
              <a:t>Iterative</a:t>
            </a:r>
            <a:endParaRPr lang="zh-CN" altLang="en-US" sz="1200" b="1">
              <a:latin typeface="Times New Roman" panose="02020603050405020304" charset="0"/>
              <a:sym typeface="+mn-ea"/>
            </a:endParaRPr>
          </a:p>
          <a:p>
            <a:pPr algn="ctr"/>
            <a:r>
              <a:rPr lang="zh-CN" altLang="en-US" sz="1200" b="1">
                <a:latin typeface="Times New Roman" panose="02020603050405020304" charset="0"/>
                <a:sym typeface="+mn-ea"/>
              </a:rPr>
              <a:t> loop</a:t>
            </a:r>
            <a:endParaRPr lang="zh-CN" altLang="en-US" sz="1200" b="1">
              <a:latin typeface="Times New Roman" panose="02020603050405020304" charset="0"/>
            </a:endParaRPr>
          </a:p>
          <a:p>
            <a:pPr algn="ctr"/>
            <a:endParaRPr lang="zh-CN" altLang="en-US" sz="1200" b="1">
              <a:latin typeface="Times New Roman" panose="02020603050405020304" charset="0"/>
            </a:endParaRPr>
          </a:p>
        </p:txBody>
      </p:sp>
      <p:cxnSp>
        <p:nvCxnSpPr>
          <p:cNvPr id="35" name="直接连接符 34"/>
          <p:cNvCxnSpPr/>
          <p:nvPr/>
        </p:nvCxnSpPr>
        <p:spPr>
          <a:xfrm flipH="1">
            <a:off x="1423670" y="4104005"/>
            <a:ext cx="494030" cy="229235"/>
          </a:xfrm>
          <a:prstGeom prst="line">
            <a:avLst/>
          </a:prstGeom>
          <a:ln w="22225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7" name="直接箭头连接符 46"/>
          <p:cNvCxnSpPr/>
          <p:nvPr/>
        </p:nvCxnSpPr>
        <p:spPr>
          <a:xfrm flipV="1">
            <a:off x="1651000" y="4150360"/>
            <a:ext cx="174625" cy="806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左箭头 5"/>
          <p:cNvSpPr/>
          <p:nvPr/>
        </p:nvSpPr>
        <p:spPr>
          <a:xfrm>
            <a:off x="3289300" y="1222375"/>
            <a:ext cx="927735" cy="139065"/>
          </a:xfrm>
          <a:prstGeom prst="leftArrow">
            <a:avLst/>
          </a:prstGeom>
          <a:solidFill>
            <a:schemeClr val="accent5">
              <a:lumMod val="50000"/>
            </a:schemeClr>
          </a:solidFill>
          <a:ln w="28575" cmpd="sng">
            <a:solidFill>
              <a:schemeClr val="accent5">
                <a:lumMod val="50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2" name="图片 21" descr="加载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97585" y="1484630"/>
            <a:ext cx="309245" cy="309245"/>
          </a:xfrm>
          <a:prstGeom prst="rect">
            <a:avLst/>
          </a:prstGeom>
        </p:spPr>
      </p:pic>
      <p:cxnSp>
        <p:nvCxnSpPr>
          <p:cNvPr id="49" name="直接箭头连接符 48"/>
          <p:cNvCxnSpPr/>
          <p:nvPr/>
        </p:nvCxnSpPr>
        <p:spPr>
          <a:xfrm flipH="1">
            <a:off x="1122680" y="836930"/>
            <a:ext cx="635" cy="540000"/>
          </a:xfrm>
          <a:prstGeom prst="straightConnector1">
            <a:avLst/>
          </a:prstGeom>
          <a:ln w="1905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55" name="图片 54" descr="加载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516380" y="1484630"/>
            <a:ext cx="309245" cy="309245"/>
          </a:xfrm>
          <a:prstGeom prst="rect">
            <a:avLst/>
          </a:prstGeom>
        </p:spPr>
      </p:pic>
      <p:sp>
        <p:nvSpPr>
          <p:cNvPr id="43" name="文本框 42"/>
          <p:cNvSpPr txBox="1"/>
          <p:nvPr/>
        </p:nvSpPr>
        <p:spPr>
          <a:xfrm>
            <a:off x="455295" y="973455"/>
            <a:ext cx="1453515" cy="2266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200" b="1">
                <a:latin typeface="Times New Roman" panose="02020603050405020304" charset="0"/>
              </a:rPr>
              <a:t>Agent initialization</a:t>
            </a:r>
            <a:endParaRPr lang="zh-CN" altLang="en-US" sz="1200" b="1">
              <a:latin typeface="Times New Roman" panose="02020603050405020304" charset="0"/>
            </a:endParaRPr>
          </a:p>
        </p:txBody>
      </p:sp>
      <p:cxnSp>
        <p:nvCxnSpPr>
          <p:cNvPr id="58" name="肘形连接符 57"/>
          <p:cNvCxnSpPr>
            <a:stCxn id="126" idx="2"/>
            <a:endCxn id="77" idx="1"/>
          </p:cNvCxnSpPr>
          <p:nvPr/>
        </p:nvCxnSpPr>
        <p:spPr>
          <a:xfrm rot="5400000" flipV="1">
            <a:off x="1524000" y="1494790"/>
            <a:ext cx="104140" cy="886460"/>
          </a:xfrm>
          <a:prstGeom prst="bentConnector2">
            <a:avLst/>
          </a:prstGeom>
          <a:ln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1" name="直接箭头连接符 60"/>
          <p:cNvCxnSpPr>
            <a:endCxn id="83" idx="3"/>
          </p:cNvCxnSpPr>
          <p:nvPr/>
        </p:nvCxnSpPr>
        <p:spPr>
          <a:xfrm flipH="1" flipV="1">
            <a:off x="5109210" y="1278890"/>
            <a:ext cx="897255" cy="1270"/>
          </a:xfrm>
          <a:prstGeom prst="straightConnector1">
            <a:avLst/>
          </a:prstGeom>
          <a:ln w="1905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64" name="图片 63" descr="报告 (2)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176645" y="265430"/>
            <a:ext cx="468000" cy="468000"/>
          </a:xfrm>
          <a:prstGeom prst="rect">
            <a:avLst/>
          </a:prstGeom>
        </p:spPr>
      </p:pic>
      <p:pic>
        <p:nvPicPr>
          <p:cNvPr id="89" name="图片 88" descr="迁移箭头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 rot="5400000">
            <a:off x="6774180" y="820420"/>
            <a:ext cx="438785" cy="438785"/>
          </a:xfrm>
          <a:prstGeom prst="rect">
            <a:avLst/>
          </a:prstGeom>
        </p:spPr>
      </p:pic>
      <p:pic>
        <p:nvPicPr>
          <p:cNvPr id="90" name="图片 89" descr="迁移箭头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 rot="10800000">
            <a:off x="7282180" y="1278890"/>
            <a:ext cx="438785" cy="438785"/>
          </a:xfrm>
          <a:prstGeom prst="rect">
            <a:avLst/>
          </a:prstGeom>
        </p:spPr>
      </p:pic>
      <p:sp>
        <p:nvSpPr>
          <p:cNvPr id="92" name="右弧形箭头 91"/>
          <p:cNvSpPr/>
          <p:nvPr/>
        </p:nvSpPr>
        <p:spPr>
          <a:xfrm rot="20760000" flipV="1">
            <a:off x="8694420" y="1916430"/>
            <a:ext cx="548005" cy="2762250"/>
          </a:xfrm>
          <a:prstGeom prst="curvedLeftArrow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88" name="矩形 187"/>
          <p:cNvSpPr/>
          <p:nvPr/>
        </p:nvSpPr>
        <p:spPr>
          <a:xfrm>
            <a:off x="151130" y="2543810"/>
            <a:ext cx="5319395" cy="2898140"/>
          </a:xfrm>
          <a:prstGeom prst="rect">
            <a:avLst/>
          </a:prstGeom>
          <a:noFill/>
          <a:ln w="28575" cmpd="sng">
            <a:solidFill>
              <a:schemeClr val="accent1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84" name="肘形连接符 83"/>
          <p:cNvCxnSpPr>
            <a:stCxn id="77" idx="2"/>
            <a:endCxn id="86" idx="0"/>
          </p:cNvCxnSpPr>
          <p:nvPr/>
        </p:nvCxnSpPr>
        <p:spPr>
          <a:xfrm rot="5400000" flipV="1">
            <a:off x="3549550" y="1452980"/>
            <a:ext cx="432000" cy="2114550"/>
          </a:xfrm>
          <a:prstGeom prst="bentConnector3">
            <a:avLst>
              <a:gd name="adj1" fmla="val 50000"/>
            </a:avLst>
          </a:prstGeom>
          <a:ln w="34925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20" name="图片 19" descr="实时采样数据 (1)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337435" y="4559300"/>
            <a:ext cx="475200" cy="475200"/>
          </a:xfrm>
          <a:prstGeom prst="rect">
            <a:avLst/>
          </a:prstGeom>
        </p:spPr>
      </p:pic>
      <p:cxnSp>
        <p:nvCxnSpPr>
          <p:cNvPr id="24" name="直接箭头连接符 23"/>
          <p:cNvCxnSpPr/>
          <p:nvPr/>
        </p:nvCxnSpPr>
        <p:spPr>
          <a:xfrm flipH="1">
            <a:off x="2772410" y="4827270"/>
            <a:ext cx="91059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1" name="文本框 30"/>
          <p:cNvSpPr txBox="1"/>
          <p:nvPr/>
        </p:nvSpPr>
        <p:spPr>
          <a:xfrm>
            <a:off x="2678430" y="4873625"/>
            <a:ext cx="7874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700" b="1">
                <a:solidFill>
                  <a:schemeClr val="bg2">
                    <a:lumMod val="50000"/>
                  </a:schemeClr>
                </a:solidFill>
                <a:latin typeface="Times New Roman" panose="02020603050405020304" charset="0"/>
              </a:rPr>
              <a:t>sampled base knowledge</a:t>
            </a:r>
            <a:endParaRPr lang="en-US" altLang="zh-CN" sz="700" b="1">
              <a:solidFill>
                <a:schemeClr val="bg2">
                  <a:lumMod val="50000"/>
                </a:schemeClr>
              </a:solidFill>
              <a:latin typeface="Times New Roman" panose="02020603050405020304" charset="0"/>
            </a:endParaRPr>
          </a:p>
        </p:txBody>
      </p:sp>
      <p:cxnSp>
        <p:nvCxnSpPr>
          <p:cNvPr id="37" name="直接连接符 36"/>
          <p:cNvCxnSpPr/>
          <p:nvPr/>
        </p:nvCxnSpPr>
        <p:spPr>
          <a:xfrm flipH="1">
            <a:off x="1414780" y="3968115"/>
            <a:ext cx="494030" cy="229235"/>
          </a:xfrm>
          <a:prstGeom prst="line">
            <a:avLst/>
          </a:prstGeom>
          <a:ln w="22225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62" name="图片 61" descr="合成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44575" y="4080510"/>
            <a:ext cx="379095" cy="370205"/>
          </a:xfrm>
          <a:prstGeom prst="rect">
            <a:avLst/>
          </a:prstGeom>
        </p:spPr>
      </p:pic>
      <p:cxnSp>
        <p:nvCxnSpPr>
          <p:cNvPr id="38" name="直接箭头连接符 37"/>
          <p:cNvCxnSpPr/>
          <p:nvPr/>
        </p:nvCxnSpPr>
        <p:spPr>
          <a:xfrm flipV="1">
            <a:off x="1635760" y="4015105"/>
            <a:ext cx="174625" cy="806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44" name="图片 43" descr="实时采样数据 (1)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710555" y="3528060"/>
            <a:ext cx="475200" cy="475200"/>
          </a:xfrm>
          <a:prstGeom prst="rect">
            <a:avLst/>
          </a:prstGeom>
        </p:spPr>
      </p:pic>
      <p:sp>
        <p:nvSpPr>
          <p:cNvPr id="75" name="文本框 74"/>
          <p:cNvSpPr txBox="1"/>
          <p:nvPr/>
        </p:nvSpPr>
        <p:spPr>
          <a:xfrm>
            <a:off x="5590540" y="3924300"/>
            <a:ext cx="76644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700" b="1">
                <a:solidFill>
                  <a:schemeClr val="bg2">
                    <a:lumMod val="50000"/>
                  </a:schemeClr>
                </a:solidFill>
                <a:latin typeface="Times New Roman" panose="02020603050405020304" charset="0"/>
              </a:rPr>
              <a:t>sampled base knowledge</a:t>
            </a:r>
            <a:endParaRPr lang="en-US" altLang="zh-CN" sz="700" b="1">
              <a:solidFill>
                <a:schemeClr val="bg2">
                  <a:lumMod val="50000"/>
                </a:schemeClr>
              </a:solidFill>
              <a:latin typeface="Times New Roman" panose="02020603050405020304" charset="0"/>
            </a:endParaRPr>
          </a:p>
        </p:txBody>
      </p:sp>
      <p:pic>
        <p:nvPicPr>
          <p:cNvPr id="85" name="图片 84" descr="1多节点 (1)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162675" y="3633470"/>
            <a:ext cx="885190" cy="415925"/>
          </a:xfrm>
          <a:prstGeom prst="rect">
            <a:avLst/>
          </a:prstGeom>
        </p:spPr>
      </p:pic>
      <p:pic>
        <p:nvPicPr>
          <p:cNvPr id="102" name="图片 101" descr="循环结束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974215" y="4686935"/>
            <a:ext cx="300990" cy="300990"/>
          </a:xfrm>
          <a:prstGeom prst="rect">
            <a:avLst/>
          </a:prstGeom>
        </p:spPr>
      </p:pic>
      <p:sp>
        <p:nvSpPr>
          <p:cNvPr id="103" name="右箭头 102"/>
          <p:cNvSpPr/>
          <p:nvPr/>
        </p:nvSpPr>
        <p:spPr>
          <a:xfrm>
            <a:off x="5375275" y="3705860"/>
            <a:ext cx="330200" cy="218440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NzU0NjMxYmIyMTZjNTFhZDYwZjcyNGZmZGU1MWNkMDc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723</Words>
  <Application>WPS 演示</Application>
  <PresentationFormat>宽屏</PresentationFormat>
  <Paragraphs>88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Times New Roman</vt:lpstr>
      <vt:lpstr>Calibri</vt:lpstr>
      <vt:lpstr>微软雅黑</vt:lpstr>
      <vt:lpstr>Arial Unicode MS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qbtj1</dc:creator>
  <cp:lastModifiedBy>Jack Du</cp:lastModifiedBy>
  <cp:revision>49</cp:revision>
  <dcterms:created xsi:type="dcterms:W3CDTF">2023-08-09T12:44:00Z</dcterms:created>
  <dcterms:modified xsi:type="dcterms:W3CDTF">2025-03-11T06:40:59Z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ABDA4E87C6434B4D8A647555FFF8D51F_12</vt:lpwstr>
  </property>
  <property fmtid="{D5CDD505-2E9C-101B-9397-08002B2CF9AE}" pid="3" name="KSOProductBuildVer">
    <vt:lpwstr>2052-12.1.0.20305</vt:lpwstr>
  </property>
</Properties>
</file>