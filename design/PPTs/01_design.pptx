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" name="组合 10"/>
          <p:cNvGrpSpPr/>
          <p:nvPr/>
        </p:nvGrpSpPr>
        <p:grpSpPr>
          <a:xfrm>
            <a:off x="3581400" y="149225"/>
            <a:ext cx="4250055" cy="6663055"/>
            <a:chOff x="5640" y="235"/>
            <a:chExt cx="6693" cy="10493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rcRect t="3595" b="1783"/>
            <a:stretch>
              <a:fillRect/>
            </a:stretch>
          </p:blipFill>
          <p:spPr>
            <a:xfrm>
              <a:off x="5640" y="235"/>
              <a:ext cx="6693" cy="6185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rcRect t="2326" b="2129"/>
            <a:stretch>
              <a:fillRect/>
            </a:stretch>
          </p:blipFill>
          <p:spPr>
            <a:xfrm>
              <a:off x="6373" y="6420"/>
              <a:ext cx="5960" cy="43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94055" y="809625"/>
            <a:ext cx="1710055" cy="1075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Manager Agent</a:t>
            </a:r>
            <a:endParaRPr lang="en-US" altLang="zh-CN"/>
          </a:p>
        </p:txBody>
      </p:sp>
      <p:sp>
        <p:nvSpPr>
          <p:cNvPr id="5" name="左大括号 4"/>
          <p:cNvSpPr/>
          <p:nvPr/>
        </p:nvSpPr>
        <p:spPr>
          <a:xfrm>
            <a:off x="2498090" y="120015"/>
            <a:ext cx="609600" cy="24809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69590" y="13970"/>
            <a:ext cx="28784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zh-CN" altLang="en-US"/>
              <a:t>调用感知</a:t>
            </a:r>
            <a:r>
              <a:rPr lang="en-US" altLang="zh-CN"/>
              <a:t>agent</a:t>
            </a:r>
            <a:r>
              <a:rPr lang="zh-CN" altLang="en-US"/>
              <a:t>加载数据，生成评估报告、采样节点</a:t>
            </a:r>
            <a:r>
              <a:rPr lang="en-US" altLang="zh-CN"/>
              <a:t>id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/>
              <a:t>采样对应节点，并且输入给图增强</a:t>
            </a:r>
            <a:r>
              <a:rPr lang="en-US" altLang="zh-CN"/>
              <a:t>agent</a:t>
            </a:r>
            <a:r>
              <a:rPr lang="zh-CN" altLang="en-US"/>
              <a:t>，输入</a:t>
            </a:r>
            <a:r>
              <a:rPr lang="en-US" altLang="zh-CN"/>
              <a:t>mode</a:t>
            </a:r>
            <a:r>
              <a:rPr lang="zh-CN" altLang="en-US"/>
              <a:t>、状态报告及其他所需环境。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调用评估</a:t>
            </a:r>
            <a:r>
              <a:rPr lang="en-US" altLang="zh-CN"/>
              <a:t>agent</a:t>
            </a:r>
            <a:r>
              <a:rPr lang="zh-CN" altLang="en-US"/>
              <a:t>，将生成的数据输入进去，通过评估</a:t>
            </a:r>
            <a:r>
              <a:rPr lang="en-US" altLang="zh-CN"/>
              <a:t>agent</a:t>
            </a:r>
            <a:r>
              <a:rPr lang="zh-CN" altLang="en-US"/>
              <a:t>的输出判断是否需要结束。</a:t>
            </a:r>
            <a:endParaRPr lang="zh-CN" altLang="en-US"/>
          </a:p>
          <a:p>
            <a:pPr marL="342900" indent="-342900">
              <a:buAutoNum type="arabicPeriod"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23965" y="1009015"/>
            <a:ext cx="1722755" cy="1075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Perception Agent</a:t>
            </a:r>
            <a:endParaRPr lang="en-US" altLang="zh-CN"/>
          </a:p>
        </p:txBody>
      </p:sp>
      <p:sp>
        <p:nvSpPr>
          <p:cNvPr id="8" name="左大括号 7"/>
          <p:cNvSpPr/>
          <p:nvPr/>
        </p:nvSpPr>
        <p:spPr>
          <a:xfrm>
            <a:off x="8148955" y="73660"/>
            <a:ext cx="427990" cy="30016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80425" y="128905"/>
            <a:ext cx="342392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/>
              <a:t>根据</a:t>
            </a:r>
            <a:r>
              <a:rPr lang="en-US" altLang="zh-CN"/>
              <a:t>mode</a:t>
            </a:r>
            <a:r>
              <a:rPr lang="zh-CN" altLang="en-US"/>
              <a:t>判断为随机图增强还是</a:t>
            </a:r>
            <a:r>
              <a:rPr lang="en-US" altLang="zh-CN"/>
              <a:t>few-shot</a:t>
            </a:r>
            <a:r>
              <a:rPr lang="zh-CN" altLang="en-US"/>
              <a:t>图增强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若为随机图增强，根据</a:t>
            </a:r>
            <a:r>
              <a:rPr lang="en-US" altLang="zh-CN"/>
              <a:t>community_louvain</a:t>
            </a:r>
            <a:r>
              <a:rPr lang="zh-CN" altLang="en-US"/>
              <a:t>进行社区聚类，根据大语言模型输出，选择采样的社区范围和节点范围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若为</a:t>
            </a:r>
            <a:r>
              <a:rPr lang="en-US" altLang="zh-CN"/>
              <a:t>few-shot</a:t>
            </a:r>
            <a:r>
              <a:rPr lang="zh-CN" altLang="en-US"/>
              <a:t>，感知当前</a:t>
            </a:r>
            <a:r>
              <a:rPr lang="en-US" altLang="zh-CN"/>
              <a:t>label</a:t>
            </a:r>
            <a:r>
              <a:rPr lang="zh-CN" altLang="en-US"/>
              <a:t>分布，根据大语言模型输出，选择采样的</a:t>
            </a:r>
            <a:r>
              <a:rPr lang="en-US" altLang="zh-CN"/>
              <a:t>label</a:t>
            </a:r>
            <a:r>
              <a:rPr lang="zh-CN" altLang="en-US"/>
              <a:t>和节点范围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94055" y="4200525"/>
            <a:ext cx="1710055" cy="1075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Enhancement Agent</a:t>
            </a:r>
            <a:endParaRPr lang="en-US" altLang="zh-CN"/>
          </a:p>
        </p:txBody>
      </p:sp>
      <p:sp>
        <p:nvSpPr>
          <p:cNvPr id="11" name="左大括号 10"/>
          <p:cNvSpPr/>
          <p:nvPr/>
        </p:nvSpPr>
        <p:spPr>
          <a:xfrm>
            <a:off x="2449830" y="3240405"/>
            <a:ext cx="469900" cy="3276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928620" y="3244215"/>
            <a:ext cx="35052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zh-CN"/>
              <a:t>if mode == “random”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根据初始图状态报告，当前输入节点，已生成的节点</a:t>
            </a:r>
            <a:r>
              <a:rPr lang="en-US" altLang="zh-CN"/>
              <a:t>id</a:t>
            </a:r>
            <a:r>
              <a:rPr lang="zh-CN" altLang="en-US"/>
              <a:t>（仅</a:t>
            </a:r>
            <a:r>
              <a:rPr lang="en-US" altLang="zh-CN"/>
              <a:t>id</a:t>
            </a:r>
            <a:r>
              <a:rPr lang="zh-CN" altLang="en-US"/>
              <a:t>），进行图数据增强。可选操作：增减边，修改</a:t>
            </a:r>
            <a:r>
              <a:rPr lang="en-US" altLang="zh-CN"/>
              <a:t>text</a:t>
            </a:r>
            <a:r>
              <a:rPr lang="zh-CN" altLang="en-US"/>
              <a:t>，新增节点。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en-US" altLang="zh-CN"/>
              <a:t>if mode == “label”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根据状态报告，输入的节点，已生成的节点</a:t>
            </a:r>
            <a:r>
              <a:rPr lang="en-US" altLang="zh-CN"/>
              <a:t>id(</a:t>
            </a:r>
            <a:r>
              <a:rPr lang="zh-CN" altLang="en-US"/>
              <a:t>仅</a:t>
            </a:r>
            <a:r>
              <a:rPr lang="en-US" altLang="zh-CN"/>
              <a:t>id)</a:t>
            </a:r>
            <a:r>
              <a:rPr lang="zh-CN" altLang="en-US"/>
              <a:t>进行</a:t>
            </a:r>
            <a:r>
              <a:rPr lang="en-US" altLang="zh-CN"/>
              <a:t>few-shot</a:t>
            </a:r>
            <a:r>
              <a:rPr lang="zh-CN" altLang="en-US"/>
              <a:t>数据增强，着重关注于进行图数据合成。（同时也可以进行边修改和</a:t>
            </a:r>
            <a:r>
              <a:rPr lang="en-US" altLang="zh-CN"/>
              <a:t>text</a:t>
            </a:r>
            <a:r>
              <a:rPr lang="zh-CN" altLang="en-US"/>
              <a:t>修改）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26200" y="4154170"/>
            <a:ext cx="1722755" cy="1075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Evaluation agent</a:t>
            </a:r>
            <a:endParaRPr lang="en-US" altLang="zh-CN"/>
          </a:p>
        </p:txBody>
      </p:sp>
      <p:sp>
        <p:nvSpPr>
          <p:cNvPr id="14" name="左大括号 13"/>
          <p:cNvSpPr/>
          <p:nvPr/>
        </p:nvSpPr>
        <p:spPr>
          <a:xfrm>
            <a:off x="8204200" y="3312160"/>
            <a:ext cx="427990" cy="30016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34070" y="4231005"/>
            <a:ext cx="3423920" cy="364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/>
              <a:t>根据初始任务，当前输出环境报告，历史输出环境报告，判断是否结束增强任务。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36955" y="162560"/>
            <a:ext cx="2447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Datasets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965200" y="589915"/>
            <a:ext cx="32639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zh-CN"/>
              <a:t>Cora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Instagram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Reddit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Citeseer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arxiv(</a:t>
            </a:r>
            <a:r>
              <a:rPr lang="zh-CN" altLang="en-US"/>
              <a:t>待定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309110" y="221615"/>
            <a:ext cx="2447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GNN methods</a:t>
            </a:r>
            <a:endParaRPr lang="en-US" altLang="zh-CN" b="1"/>
          </a:p>
        </p:txBody>
      </p:sp>
      <p:sp>
        <p:nvSpPr>
          <p:cNvPr id="8" name="文本框 7"/>
          <p:cNvSpPr txBox="1"/>
          <p:nvPr/>
        </p:nvSpPr>
        <p:spPr>
          <a:xfrm>
            <a:off x="4191000" y="780415"/>
            <a:ext cx="27349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zh-CN" altLang="en-US"/>
              <a:t>（</a:t>
            </a:r>
            <a:r>
              <a:rPr lang="en-US" altLang="zh-CN"/>
              <a:t>Using Bert to initialize the features</a:t>
            </a:r>
            <a:r>
              <a:rPr lang="zh-CN" altLang="en-US"/>
              <a:t>）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GAT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GCN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GSAGE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JKNet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6870700" y="272415"/>
            <a:ext cx="2624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Baselines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883400" y="729615"/>
            <a:ext cx="3966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 GAug</a:t>
            </a:r>
            <a:endParaRPr lang="en-US" altLang="zh-CN"/>
          </a:p>
          <a:p>
            <a:r>
              <a:rPr lang="en-US" altLang="zh-CN"/>
              <a:t>2. other graph Enhancement methods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49300" y="3193415"/>
            <a:ext cx="3124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Evaluation metrics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893445" y="3612515"/>
            <a:ext cx="24466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Acc</a:t>
            </a:r>
            <a:endParaRPr lang="en-US" altLang="zh-CN"/>
          </a:p>
          <a:p>
            <a:r>
              <a:rPr lang="en-US" altLang="zh-CN"/>
              <a:t>2. Prec</a:t>
            </a:r>
            <a:endParaRPr lang="en-US" altLang="zh-CN"/>
          </a:p>
          <a:p>
            <a:r>
              <a:rPr lang="en-US" altLang="zh-CN"/>
              <a:t>3. Rec</a:t>
            </a:r>
            <a:endParaRPr lang="en-US" altLang="zh-CN"/>
          </a:p>
          <a:p>
            <a:r>
              <a:rPr lang="en-US" altLang="zh-CN"/>
              <a:t>4. F1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4025900" y="3231515"/>
            <a:ext cx="40430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Experiment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few-shot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en-US" altLang="zh-CN"/>
              <a:t>random-Enhancement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WPS 演示</Application>
  <PresentationFormat>宽屏</PresentationFormat>
  <Paragraphs>55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JackDu</dc:creator>
  <cp:lastModifiedBy>Jack Du</cp:lastModifiedBy>
  <cp:revision>39</cp:revision>
  <dcterms:created xsi:type="dcterms:W3CDTF">2023-08-09T12:44:00Z</dcterms:created>
  <dcterms:modified xsi:type="dcterms:W3CDTF">2025-02-19T08:30:45Z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