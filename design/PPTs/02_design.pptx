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  <p:sldId id="256" r:id="rId4"/>
    <p:sldId id="259" r:id="rId5"/>
    <p:sldId id="257" r:id="rId6"/>
    <p:sldId id="26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" y="598805"/>
            <a:ext cx="3580765" cy="513524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695065" y="1807845"/>
            <a:ext cx="5847080" cy="2509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zh-CN" altLang="en-US"/>
              <a:t>根据人为输入，确定为</a:t>
            </a:r>
            <a:r>
              <a:rPr lang="en-US" altLang="zh-CN"/>
              <a:t>random</a:t>
            </a:r>
            <a:r>
              <a:rPr lang="zh-CN" altLang="en-US"/>
              <a:t>增强或</a:t>
            </a:r>
            <a:r>
              <a:rPr lang="en-US" altLang="zh-CN"/>
              <a:t>label</a:t>
            </a:r>
            <a:r>
              <a:rPr lang="zh-CN" altLang="en-US"/>
              <a:t>增强</a:t>
            </a:r>
            <a:endParaRPr lang="zh-CN" altLang="en-US"/>
          </a:p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zh-CN" altLang="en-US"/>
              <a:t>初始化所有</a:t>
            </a:r>
            <a:r>
              <a:rPr lang="en-US" altLang="zh-CN"/>
              <a:t>agent</a:t>
            </a:r>
            <a:r>
              <a:rPr lang="zh-CN" altLang="en-US"/>
              <a:t>，并且确定增强目标</a:t>
            </a:r>
            <a:endParaRPr lang="zh-CN" altLang="en-US"/>
          </a:p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zh-CN" altLang="en-US"/>
              <a:t>将每轮迭代输出的数据集输入到增强后的数据集</a:t>
            </a:r>
            <a:endParaRPr lang="zh-CN" altLang="en-US"/>
          </a:p>
          <a:p>
            <a:pPr indent="0" fontAlgn="auto">
              <a:lnSpc>
                <a:spcPct val="150000"/>
              </a:lnSpc>
              <a:buNone/>
            </a:pP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295" y="313690"/>
            <a:ext cx="2804160" cy="531939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594735" y="1416050"/>
            <a:ext cx="7950200" cy="3806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zh-CN" altLang="en-US"/>
              <a:t>根据</a:t>
            </a:r>
            <a:r>
              <a:rPr lang="en-US" altLang="zh-CN"/>
              <a:t>json</a:t>
            </a:r>
            <a:r>
              <a:rPr lang="zh-CN" altLang="en-US"/>
              <a:t>文件构建图结构</a:t>
            </a:r>
            <a:endParaRPr lang="zh-CN" altLang="en-US"/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zh-CN" altLang="en-US"/>
              <a:t>对图结构进行</a:t>
            </a:r>
            <a:r>
              <a:rPr lang="en-US" altLang="zh-CN"/>
              <a:t>Louvain </a:t>
            </a:r>
            <a:r>
              <a:rPr lang="zh-CN" altLang="en-US"/>
              <a:t>社区划分</a:t>
            </a:r>
            <a:endParaRPr lang="zh-CN" altLang="en-US"/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zh-CN" altLang="en-US"/>
              <a:t>让大语言模型选择节点较少的社区作为起始社区，进行</a:t>
            </a:r>
            <a:r>
              <a:rPr lang="en-US" altLang="zh-CN"/>
              <a:t>PPR</a:t>
            </a:r>
            <a:r>
              <a:rPr lang="zh-CN" altLang="en-US"/>
              <a:t>分数生成。（取以该社区每个节点为起点的</a:t>
            </a:r>
            <a:r>
              <a:rPr lang="en-US" altLang="zh-CN"/>
              <a:t>PPR</a:t>
            </a:r>
            <a:r>
              <a:rPr lang="zh-CN" altLang="en-US"/>
              <a:t>分数的均值）</a:t>
            </a:r>
            <a:endParaRPr lang="zh-CN" altLang="en-US"/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zh-CN" altLang="en-US"/>
              <a:t>在</a:t>
            </a:r>
            <a:r>
              <a:rPr lang="en-US" altLang="zh-CN"/>
              <a:t>top 10%</a:t>
            </a:r>
            <a:r>
              <a:rPr lang="zh-CN" altLang="en-US"/>
              <a:t>的节点里，随机采样待增强节点</a:t>
            </a:r>
            <a:r>
              <a:rPr lang="en-US" altLang="zh-CN"/>
              <a:t>id</a:t>
            </a:r>
            <a:r>
              <a:rPr lang="zh-CN" altLang="en-US"/>
              <a:t>。</a:t>
            </a:r>
            <a:endParaRPr lang="zh-CN" altLang="en-US"/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zh-CN" altLang="en-US"/>
              <a:t>生成初始环境状态报告</a:t>
            </a:r>
            <a:r>
              <a:rPr lang="en-US" altLang="zh-CN"/>
              <a:t>——</a:t>
            </a:r>
            <a:r>
              <a:rPr lang="zh-CN" altLang="en-US"/>
              <a:t>存储为初始环境状态</a:t>
            </a:r>
            <a:endParaRPr lang="zh-CN" altLang="en-US"/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9085" y="1172845"/>
            <a:ext cx="2254250" cy="320421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415665" y="2261235"/>
            <a:ext cx="598614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zh-CN" altLang="en-US" sz="2000"/>
              <a:t>接收采样数据</a:t>
            </a:r>
            <a:endParaRPr lang="zh-CN" altLang="en-US" sz="2000"/>
          </a:p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zh-CN" altLang="en-US" sz="2000"/>
              <a:t>理解图结构和增强任务（通过</a:t>
            </a:r>
            <a:r>
              <a:rPr lang="en-US" altLang="zh-CN" sz="2000"/>
              <a:t>prompt</a:t>
            </a:r>
            <a:r>
              <a:rPr lang="zh-CN" altLang="en-US" sz="2000"/>
              <a:t>工程实现）</a:t>
            </a:r>
            <a:endParaRPr lang="zh-CN" altLang="en-US" sz="2000"/>
          </a:p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zh-CN" altLang="en-US" sz="2000"/>
              <a:t>进行图数据增强</a:t>
            </a:r>
            <a:endParaRPr lang="zh-CN" altLang="en-US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内容占位符 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04165" y="0"/>
            <a:ext cx="1760855" cy="685736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065020" y="1576070"/>
            <a:ext cx="957961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zh-CN" altLang="en-US"/>
              <a:t>接收来自增强</a:t>
            </a:r>
            <a:r>
              <a:rPr lang="en-US" altLang="zh-CN"/>
              <a:t>agent</a:t>
            </a:r>
            <a:r>
              <a:rPr lang="zh-CN" altLang="en-US"/>
              <a:t>的增强数据</a:t>
            </a:r>
            <a:endParaRPr lang="zh-CN" altLang="en-US"/>
          </a:p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zh-CN" altLang="en-US"/>
              <a:t>接收来自环境感知</a:t>
            </a:r>
            <a:r>
              <a:rPr lang="en-US" altLang="zh-CN"/>
              <a:t>agent</a:t>
            </a:r>
            <a:r>
              <a:rPr lang="zh-CN" altLang="en-US"/>
              <a:t>的感知数据</a:t>
            </a:r>
            <a:endParaRPr lang="zh-CN" altLang="en-US"/>
          </a:p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zh-CN" altLang="en-US"/>
              <a:t>调用环境感知</a:t>
            </a:r>
            <a:r>
              <a:rPr lang="en-US" altLang="zh-CN"/>
              <a:t>agent</a:t>
            </a:r>
            <a:r>
              <a:rPr lang="zh-CN" altLang="en-US"/>
              <a:t>，进行环境感知抽取，得到当前环境状态报告</a:t>
            </a:r>
            <a:endParaRPr lang="zh-CN" altLang="en-US"/>
          </a:p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en-US" altLang="zh-CN"/>
              <a:t>agent</a:t>
            </a:r>
            <a:r>
              <a:rPr lang="zh-CN" altLang="en-US"/>
              <a:t>接收内容</a:t>
            </a:r>
            <a:r>
              <a:rPr lang="en-US" altLang="zh-CN"/>
              <a:t>——</a:t>
            </a:r>
            <a:r>
              <a:rPr lang="zh-CN" altLang="en-US">
                <a:highlight>
                  <a:srgbClr val="FFFF00"/>
                </a:highlight>
              </a:rPr>
              <a:t>当前环境状态报告，初始环境状态报告</a:t>
            </a:r>
            <a:endParaRPr lang="zh-CN" altLang="en-US"/>
          </a:p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zh-CN" altLang="en-US"/>
              <a:t>判断是否收敛</a:t>
            </a:r>
            <a:endParaRPr lang="zh-CN" altLang="en-US"/>
          </a:p>
          <a:p>
            <a:pPr marL="342900" indent="-342900" fontAlgn="auto">
              <a:lnSpc>
                <a:spcPct val="150000"/>
              </a:lnSpc>
              <a:buAutoNum type="arabicPeriod"/>
            </a:pP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9905" y="125095"/>
            <a:ext cx="10515600" cy="887730"/>
          </a:xfrm>
        </p:spPr>
        <p:txBody>
          <a:bodyPr/>
          <a:p>
            <a:r>
              <a:rPr lang="zh-CN" altLang="en-US" sz="3200"/>
              <a:t>现阶段问题</a:t>
            </a:r>
            <a:endParaRPr lang="zh-CN" altLang="en-US" sz="32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750" y="872490"/>
            <a:ext cx="10515600" cy="4613910"/>
          </a:xfrm>
        </p:spPr>
        <p:txBody>
          <a:bodyPr>
            <a:normAutofit fontScale="80000"/>
          </a:bodyPr>
          <a:p>
            <a:pPr marL="514350" indent="-514350" fontAlgn="auto">
              <a:lnSpc>
                <a:spcPct val="125000"/>
              </a:lnSpc>
              <a:buAutoNum type="arabicPeriod"/>
            </a:pPr>
            <a:r>
              <a:rPr lang="en-US" altLang="zh-CN"/>
              <a:t>transfer</a:t>
            </a:r>
            <a:r>
              <a:rPr lang="zh-CN" altLang="en-US"/>
              <a:t>的必要性</a:t>
            </a:r>
            <a:r>
              <a:rPr lang="en-US" altLang="zh-CN"/>
              <a:t>——</a:t>
            </a:r>
            <a:r>
              <a:rPr lang="zh-CN" altLang="en-US"/>
              <a:t>使用大语言模型将</a:t>
            </a:r>
            <a:r>
              <a:rPr lang="en-US" altLang="zh-CN"/>
              <a:t>text</a:t>
            </a:r>
            <a:r>
              <a:rPr lang="zh-CN" altLang="en-US"/>
              <a:t>从长文本降至指定长度。</a:t>
            </a:r>
            <a:endParaRPr lang="zh-CN" altLang="en-US"/>
          </a:p>
          <a:p>
            <a:pPr marL="514350" indent="-514350" fontAlgn="auto">
              <a:lnSpc>
                <a:spcPct val="125000"/>
              </a:lnSpc>
              <a:buAutoNum type="arabicPeriod"/>
            </a:pPr>
            <a:r>
              <a:rPr lang="zh-CN" altLang="en-US"/>
              <a:t>生成新数据、传统数据增强</a:t>
            </a:r>
            <a:r>
              <a:rPr lang="en-US" altLang="zh-CN"/>
              <a:t>(llm for RGNN, graph edit)</a:t>
            </a:r>
            <a:r>
              <a:rPr lang="zh-CN" altLang="en-US"/>
              <a:t>、大语言模型</a:t>
            </a:r>
            <a:endParaRPr lang="en-US" altLang="zh-CN"/>
          </a:p>
          <a:p>
            <a:pPr marL="514350" indent="-514350" fontAlgn="auto">
              <a:lnSpc>
                <a:spcPct val="125000"/>
              </a:lnSpc>
              <a:buAutoNum type="arabicPeriod"/>
            </a:pPr>
            <a:r>
              <a:rPr lang="en-US" altLang="zh-CN"/>
              <a:t>baseline</a:t>
            </a:r>
            <a:r>
              <a:rPr lang="zh-CN" altLang="en-US"/>
              <a:t>选择</a:t>
            </a:r>
            <a:r>
              <a:rPr lang="en-US" altLang="zh-CN"/>
              <a:t>——GraphSmote</a:t>
            </a:r>
            <a:r>
              <a:rPr lang="zh-CN" altLang="en-US"/>
              <a:t>、</a:t>
            </a:r>
            <a:r>
              <a:rPr lang="en-US" altLang="zh-CN"/>
              <a:t>GAuG</a:t>
            </a:r>
            <a:r>
              <a:rPr lang="zh-CN" altLang="en-US"/>
              <a:t>、大语言模型</a:t>
            </a:r>
            <a:r>
              <a:rPr lang="en-US" altLang="zh-CN"/>
              <a:t>baseline</a:t>
            </a:r>
            <a:r>
              <a:rPr lang="zh-CN" altLang="en-US"/>
              <a:t>。</a:t>
            </a:r>
            <a:endParaRPr lang="en-US" altLang="zh-CN"/>
          </a:p>
          <a:p>
            <a:pPr marL="514350" indent="-514350" fontAlgn="auto">
              <a:lnSpc>
                <a:spcPct val="125000"/>
              </a:lnSpc>
              <a:buAutoNum type="arabicPeriod"/>
            </a:pPr>
            <a:r>
              <a:rPr lang="zh-CN" altLang="en-US"/>
              <a:t>大语言模型</a:t>
            </a:r>
            <a:r>
              <a:rPr lang="en-US" altLang="zh-CN"/>
              <a:t>baseline</a:t>
            </a:r>
            <a:r>
              <a:rPr lang="zh-CN" altLang="en-US"/>
              <a:t>：随机选择数据让大语言模型增强。</a:t>
            </a:r>
            <a:endParaRPr lang="zh-CN" altLang="en-US"/>
          </a:p>
          <a:p>
            <a:pPr marL="514350" indent="-514350" fontAlgn="auto">
              <a:lnSpc>
                <a:spcPct val="125000"/>
              </a:lnSpc>
              <a:buAutoNum type="arabicPeriod"/>
            </a:pPr>
            <a:r>
              <a:rPr lang="zh-CN" altLang="en-US"/>
              <a:t>实验细分</a:t>
            </a:r>
            <a:r>
              <a:rPr lang="en-US" altLang="zh-CN"/>
              <a:t>——</a:t>
            </a:r>
            <a:r>
              <a:rPr lang="zh-CN" altLang="en-US"/>
              <a:t>数据增强实验、</a:t>
            </a:r>
            <a:r>
              <a:rPr lang="en-US" altLang="zh-CN"/>
              <a:t>few-shot</a:t>
            </a:r>
            <a:r>
              <a:rPr lang="zh-CN" altLang="en-US"/>
              <a:t>实验。</a:t>
            </a:r>
            <a:endParaRPr lang="zh-CN" altLang="en-US"/>
          </a:p>
          <a:p>
            <a:pPr marL="514350" indent="-514350" fontAlgn="auto">
              <a:lnSpc>
                <a:spcPct val="125000"/>
              </a:lnSpc>
              <a:buAutoNum type="arabicPeriod"/>
            </a:pPr>
            <a:r>
              <a:rPr lang="zh-CN" altLang="en-US"/>
              <a:t>下一步策略</a:t>
            </a:r>
            <a:r>
              <a:rPr lang="en-US" altLang="zh-CN"/>
              <a:t>——</a:t>
            </a:r>
            <a:r>
              <a:rPr lang="zh-CN" altLang="en-US"/>
              <a:t>当前大语言模型验证时未对输出进行修改（即对输出进行质量判断，是否需要增加这一步骤</a:t>
            </a:r>
            <a:r>
              <a:rPr lang="en-US" altLang="zh-CN"/>
              <a:t>[time costing])</a:t>
            </a:r>
            <a:endParaRPr lang="zh-CN" altLang="en-US"/>
          </a:p>
          <a:p>
            <a:pPr marL="514350" indent="-514350" fontAlgn="auto">
              <a:lnSpc>
                <a:spcPct val="125000"/>
              </a:lnSpc>
              <a:buAutoNum type="arabicPeriod"/>
            </a:pPr>
            <a:r>
              <a:rPr lang="zh-CN" altLang="en-US"/>
              <a:t>绘图</a:t>
            </a:r>
            <a:endParaRPr lang="en-US" alt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579</Words>
  <Application>WPS 演示</Application>
  <PresentationFormat>宽屏</PresentationFormat>
  <Paragraphs>33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现阶段问题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JackDu</dc:creator>
  <cp:lastModifiedBy>Jack Du</cp:lastModifiedBy>
  <cp:revision>40</cp:revision>
  <dcterms:created xsi:type="dcterms:W3CDTF">2023-08-09T12:44:00Z</dcterms:created>
  <dcterms:modified xsi:type="dcterms:W3CDTF">2025-02-27T13:29:17Z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2052-12.1.0.20305</vt:lpwstr>
  </property>
</Properties>
</file>